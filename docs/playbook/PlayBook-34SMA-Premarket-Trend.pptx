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A1B26"/>
                </a:solidFill>
                <a:latin typeface="Lato"/>
              </a:rPr>
              <a:t>34-SMA PREMARKET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Lato"/>
              </a:rPr>
              <a:t>SMB PlayBook · davdunc · example trade RKLB · May 11,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Lato"/>
              </a:rPr>
              <a:t>Hypothetical backtest results on Massive.com minute data; simulated trades were not executed and do not reflect slippage, commissions or liquidity except where stated. Not investment advice. PlayBook format after SMB Training.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66666"/>
                </a:solidFill>
                <a:latin typeface="Lat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A1B26"/>
                </a:solidFill>
                <a:latin typeface="Lato"/>
              </a:rPr>
              <a:t>•  Setup</a:t>
            </a:r>
            <a:r>
              <a:rPr sz="1600">
                <a:solidFill>
                  <a:srgbClr val="1A1B26"/>
                </a:solidFill>
                <a:latin typeface="Lato"/>
              </a:rPr>
              <a:t> a limit order placed before the bell at the 34-SMA of the extended-hours 15-minute chart, in the direction of the premarket trend.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A1B26"/>
                </a:solidFill>
                <a:latin typeface="Lato"/>
              </a:rPr>
              <a:t>•  Trend read</a:t>
            </a:r>
            <a:r>
              <a:rPr sz="1600">
                <a:solidFill>
                  <a:srgbClr val="1A1B26"/>
                </a:solidFill>
                <a:latin typeface="Lato"/>
              </a:rPr>
              <a:t> 15-minute 9-EMA above the premarket VWAP → long; below → short. Read once, pre-open.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A1B26"/>
                </a:solidFill>
                <a:latin typeface="Lato"/>
              </a:rPr>
              <a:t>•  Stock selection</a:t>
            </a:r>
            <a:r>
              <a:rPr sz="1600">
                <a:solidFill>
                  <a:srgbClr val="1A1B26"/>
                </a:solidFill>
                <a:latin typeface="Lato"/>
              </a:rPr>
              <a:t> medium and large caps with premarket volume at least 2× their own 20-day median.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A1B26"/>
                </a:solidFill>
                <a:latin typeface="Lato"/>
              </a:rPr>
              <a:t>•  Exit</a:t>
            </a:r>
            <a:r>
              <a:rPr sz="1600">
                <a:solidFill>
                  <a:srgbClr val="1A1B26"/>
                </a:solidFill>
                <a:latin typeface="Lato"/>
              </a:rPr>
              <a:t> 1.0×ATR stop, no target; exit on the first 15-minute close back across the 9-EMA. Flat at 15:55.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A1B26"/>
                </a:solidFill>
                <a:latin typeface="Lato"/>
              </a:rPr>
              <a:t>•  Evidence</a:t>
            </a:r>
            <a:r>
              <a:rPr sz="1600">
                <a:solidFill>
                  <a:srgbClr val="1A1B26"/>
                </a:solidFill>
                <a:latin typeface="Lato"/>
              </a:rPr>
              <a:t> 733 simulated trades over three years on 14 names, +86R, +35R after 5¢ of stop slippage.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A1B26"/>
                </a:solidFill>
                <a:latin typeface="Lato"/>
              </a:rPr>
              <a:t>•  Status</a:t>
            </a:r>
            <a:r>
              <a:rPr sz="1600">
                <a:solidFill>
                  <a:srgbClr val="1A1B26"/>
                </a:solidFill>
                <a:latin typeface="Lato"/>
              </a:rPr>
              <a:t> 1R paper experiment. Every element of this rule was chosen after seeing the data; treat the numbers as in-sample.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A1B26"/>
                </a:solidFill>
                <a:latin typeface="Lato"/>
              </a:rPr>
              <a:t>BIGGER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Lato"/>
              </a:rPr>
              <a:t>$SPY on the example day · open 736.45, close 739.26 (+0.38%)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Lato"/>
              </a:rPr>
              <a:t>Hypothetical backtest results on Massive.com minute data; simulated trades were not executed and do not reflect slippage, commissions or liquidity except where stated. Not investment advice. PlayBook format after SMB Training.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66666"/>
                </a:solidFill>
                <a:latin typeface="Lato"/>
              </a:rPr>
              <a:t>2</a:t>
            </a:r>
          </a:p>
        </p:txBody>
      </p:sp>
      <p:pic>
        <p:nvPicPr>
          <p:cNvPr id="6" name="Picture 5" descr="sma34_s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10515600" cy="40150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Lato"/>
              </a:rPr>
              <a:t>The setup is a single-stock premarket-volume play; the market only has to not fight it. SPY was quiet and slightly higher on the day, so the RKLB long was trading its own catalyst, not the tape.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A1B26"/>
                </a:solidFill>
                <a:latin typeface="Lato"/>
              </a:rPr>
              <a:t>BIGGER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Lato"/>
              </a:rPr>
              <a:t>$QQQ on the example day · open 710.36, close 713.38 (+0.43%)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Lato"/>
              </a:rPr>
              <a:t>Hypothetical backtest results on Massive.com minute data; simulated trades were not executed and do not reflect slippage, commissions or liquidity except where stated. Not investment advice. PlayBook format after SMB Training.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66666"/>
                </a:solidFill>
                <a:latin typeface="Lato"/>
              </a:rPr>
              <a:t>3</a:t>
            </a:r>
          </a:p>
        </p:txBody>
      </p:sp>
      <p:pic>
        <p:nvPicPr>
          <p:cNvPr id="6" name="Picture 5" descr="sma34_qq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10515600" cy="40150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Lato"/>
              </a:rPr>
              <a:t>Over three years the rule made money in both directions (shorts 332 trades / +33R, longs 292 / +26R in the intraday form), so the index direction is context, not a filter.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A1B26"/>
                </a:solidFill>
                <a:latin typeface="Lato"/>
              </a:rPr>
              <a:t>INTRADAY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Lato"/>
              </a:rPr>
              <a:t>Why RKLB was on the list on 2026-05-11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Lato"/>
              </a:rPr>
              <a:t>Hypothetical backtest results on Massive.com minute data; simulated trades were not executed and do not reflect slippage, commissions or liquidity except where stated. Not investment advice. PlayBook format after SMB Training.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66666"/>
                </a:solidFill>
                <a:latin typeface="Lato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A1B26"/>
                </a:solidFill>
                <a:latin typeface="Lato"/>
              </a:rPr>
              <a:t>•  Premarket volume 3.61× its 20-day median premarket volume</a:t>
            </a:r>
            <a:r>
              <a:rPr sz="1400">
                <a:solidFill>
                  <a:srgbClr val="1A1B26"/>
                </a:solidFill>
                <a:latin typeface="Lato"/>
              </a:rPr>
              <a:t> the only stock-selection filter. Two to three times is the sweet spot; above five it trades worse.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1B26"/>
                </a:solidFill>
                <a:latin typeface="Lato"/>
              </a:rPr>
              <a:t>•  Pre-open read at 09:15</a:t>
            </a:r>
            <a:r>
              <a:rPr sz="1400">
                <a:solidFill>
                  <a:srgbClr val="1A1B26"/>
                </a:solidFill>
                <a:latin typeface="Lato"/>
              </a:rPr>
              <a:t> 9-EMA 105.09 above the premarket VWAP 105.04, so the trend was up and the order was a buy.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1B26"/>
                </a:solidFill>
                <a:latin typeface="Lato"/>
              </a:rPr>
              <a:t>•  Level</a:t>
            </a:r>
            <a:r>
              <a:rPr sz="1400">
                <a:solidFill>
                  <a:srgbClr val="1A1B26"/>
                </a:solidFill>
                <a:latin typeface="Lato"/>
              </a:rPr>
              <a:t> the 34-SMA of the extended-hours 15-minute chart at 104.41, below the 09:29 price, so the limit rested away from the market.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1B26"/>
                </a:solidFill>
                <a:latin typeface="Lato"/>
              </a:rPr>
              <a:t>•  Universe</a:t>
            </a:r>
            <a:r>
              <a:rPr sz="1400">
                <a:solidFill>
                  <a:srgbClr val="1A1B26"/>
                </a:solidFill>
                <a:latin typeface="Lato"/>
              </a:rPr>
              <a:t> AMD BB CRWD DELL DRI INTC IONQ META MSTR NVDA RKLB SMCI TSLA XOM. No ETFs, commodities or small caps: the tight stop needs single-stock range and the premarket-volume filter needs a name with a normal premarket.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840480"/>
          <a:ext cx="11247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00400"/>
                <a:gridCol w="2377440"/>
                <a:gridCol w="3291840"/>
              </a:tblGrid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B26"/>
                          </a:solidFill>
                          <a:latin typeface="Lato"/>
                        </a:rPr>
                        <a:t>Stat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B26"/>
                          </a:solidFill>
                          <a:latin typeface="Lato"/>
                        </a:rPr>
                        <a:t>Value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B26"/>
                          </a:solidFill>
                          <a:latin typeface="Lato"/>
                        </a:rPr>
                        <a:t>Stat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B26"/>
                          </a:solidFill>
                          <a:latin typeface="Lato"/>
                        </a:rPr>
                        <a:t>Value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Trades, 3 years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733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Win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27.1%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+86.5R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Per trade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+0.118R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Average winner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+2.63R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Average loser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-0.82R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Max drawdown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35.4R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Daily Sharpe (all days)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0.83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By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2023 +38R, 2024 -2R, 2025 +13R, 2026 +38R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Exits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stop 513 · 9-EMA close 201 · 15:55 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Days with a fill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1 in 3 across 14 names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One position a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+32R on 230 trades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A1B26"/>
                </a:solidFill>
                <a:latin typeface="Lato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Lato"/>
              </a:rPr>
              <a:t>RKLB 2026-05-11 · 15-minute, extended hours · the level, the read, the fill and the exit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Lato"/>
              </a:rPr>
              <a:t>Hypothetical backtest results on Massive.com minute data; simulated trades were not executed and do not reflect slippage, commissions or liquidity except where stated. Not investment advice. PlayBook format after SMB Training.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66666"/>
                </a:solidFill>
                <a:latin typeface="Lato"/>
              </a:rPr>
              <a:t>5</a:t>
            </a:r>
          </a:p>
        </p:txBody>
      </p:sp>
      <p:pic>
        <p:nvPicPr>
          <p:cNvPr id="6" name="Picture 5" descr="sma34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10789920" cy="51006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A1B26"/>
                </a:solidFill>
                <a:latin typeface="Lato"/>
              </a:rPr>
              <a:t>TECHNICAL ANALYSIS (EXTRA)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Lato"/>
              </a:rPr>
              <a:t>The first hour on 1-minute bars: the opening drive fills the resting order; the stop is 1.0×ATR so it survives the opening minute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Lato"/>
              </a:rPr>
              <a:t>Hypothetical backtest results on Massive.com minute data; simulated trades were not executed and do not reflect slippage, commissions or liquidity except where stated. Not investment advice. PlayBook format after SMB Training.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66666"/>
                </a:solidFill>
                <a:latin typeface="Lato"/>
              </a:rPr>
              <a:t>6</a:t>
            </a:r>
          </a:p>
        </p:txBody>
      </p:sp>
      <p:pic>
        <p:nvPicPr>
          <p:cNvPr id="6" name="Picture 5" descr="sma34_f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10789920" cy="45121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Lato"/>
              </a:rPr>
              <a:t>Why 1.0×ATR and not 0.75: with the 0.75 stop, 344 of 521 first-fifteen-minute fills were stopped, median one minute after the fill. The opening minute's range is larger than 0.75 of a 15-minute ATR on these names.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A1B26"/>
                </a:solidFill>
                <a:latin typeface="Lato"/>
              </a:rPr>
              <a:t>TRADE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Lato"/>
              </a:rPr>
              <a:t>The rule, as backtested (backtest/backtest_sma34_trend.py --preopen --gate 09:30 --exit-ema9-close --target-r 0 --stop-mult 1.0)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Lato"/>
              </a:rPr>
              <a:t>Hypothetical backtest results on Massive.com minute data; simulated trades were not executed and do not reflect slippage, commissions or liquidity except where stated. Not investment advice. PlayBook format after SMB Training.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66666"/>
                </a:solidFill>
                <a:latin typeface="Lato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Scan 09:15</a:t>
            </a:r>
            <a:r>
              <a:rPr sz="1300">
                <a:solidFill>
                  <a:srgbClr val="1A1B26"/>
                </a:solidFill>
                <a:latin typeface="Lato"/>
              </a:rPr>
              <a:t> premarket volume ≥ 2× the name's 20-day median premarket volume. Skip names above 5× (they trade worse) and anything sub-$10 or post reverse-split.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Direction</a:t>
            </a:r>
            <a:r>
              <a:rPr sz="1300">
                <a:solidFill>
                  <a:srgbClr val="1A1B26"/>
                </a:solidFill>
                <a:latin typeface="Lato"/>
              </a:rPr>
              <a:t> 9-EMA on the extended-hours 15-minute chart above the premarket VWAP → long; below → short.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Order</a:t>
            </a:r>
            <a:r>
              <a:rPr sz="1300">
                <a:solidFill>
                  <a:srgbClr val="1A1B26"/>
                </a:solidFill>
                <a:latin typeface="Lato"/>
              </a:rPr>
              <a:t> limit at the 34-SMA value of the last completed 15-minute bar before 09:30. Only if the 09:29 price is on the trade side of it (buy below the market, sell short above it).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Stop</a:t>
            </a:r>
            <a:r>
              <a:rPr sz="1300">
                <a:solidFill>
                  <a:srgbClr val="1A1B26"/>
                </a:solidFill>
                <a:latin typeface="Lato"/>
              </a:rPr>
              <a:t> 1.0 × ATR(14) of the 15-minute chart, entered with the order as a bracket.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Target</a:t>
            </a:r>
            <a:r>
              <a:rPr sz="1300">
                <a:solidFill>
                  <a:srgbClr val="1A1B26"/>
                </a:solidFill>
                <a:latin typeface="Lato"/>
              </a:rPr>
              <a:t> none. Exit on the first 15-minute bar that closes back across the 9-EMA, after at least one bar has closed with the trade.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Time</a:t>
            </a:r>
            <a:r>
              <a:rPr sz="1300">
                <a:solidFill>
                  <a:srgbClr val="1A1B26"/>
                </a:solidFill>
                <a:latin typeface="Lato"/>
              </a:rPr>
              <a:t> order live 09:30 to 15:00; anything still open is flat at 15:55. One entry per name per day; one position per day if that is the account rule.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Size</a:t>
            </a:r>
            <a:r>
              <a:rPr sz="1300">
                <a:solidFill>
                  <a:srgbClr val="1A1B26"/>
                </a:solidFill>
                <a:latin typeface="Lato"/>
              </a:rPr>
              <a:t> shares = 1R ÷ stop distance, 1R = $75 in SIM (TR4425), $28 live, per PREFERENCES.md R-CONFIG. Cap 300 shares.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Do not</a:t>
            </a:r>
            <a:r>
              <a:rPr sz="1300">
                <a:solidFill>
                  <a:srgbClr val="1A1B26"/>
                </a:solidFill>
                <a:latin typeface="Lato"/>
              </a:rPr>
              <a:t> re-price the order intraday, take a second fill, or hold a name that never closes a 15-minute bar with the trade past 12:00.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A1B26"/>
                </a:solidFill>
                <a:latin typeface="Lato"/>
              </a:rPr>
              <a:t>TRADE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Lato"/>
              </a:rPr>
              <a:t>RKLB 2026-05-11 as it was simulated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Lato"/>
              </a:rPr>
              <a:t>Hypothetical backtest results on Massive.com minute data; simulated trades were not executed and do not reflect slippage, commissions or liquidity except where stated. Not investment advice. PlayBook format after SMB Training.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66666"/>
                </a:solidFill>
                <a:latin typeface="Lato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3291840"/>
                <a:gridCol w="466344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B26"/>
                          </a:solidFill>
                          <a:latin typeface="Lato"/>
                        </a:rPr>
                        <a:t>Step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B26"/>
                          </a:solidFill>
                          <a:latin typeface="Lato"/>
                        </a:rPr>
                        <a:t>Time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B26"/>
                          </a:solidFill>
                          <a:latin typeface="Lato"/>
                        </a:rPr>
                        <a:t>Price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B26"/>
                          </a:solidFill>
                          <a:latin typeface="Lato"/>
                        </a:rPr>
                        <a:t>Detail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Pre-open 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09:15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9-EMA 105.09 vs PM VWAP 105.04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long; 34-SMA 104.41; ATR 1.37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Order placed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before 09:30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buy limit 104.41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stop 103.04 (1.0×ATR); 54 shares = $75 ÷ 1.37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Fill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09:30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104.41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opening drive trades down to the level, then reverses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Stop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09:30–09:45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low held above 103.04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the 0.75×ATR stop would have been 103.38: also held here, not in most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Armed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09:45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09:30 bar closed above the 9-EMA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the 9-EMA exit is now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Exit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15:30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120.07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15:15 bar closed below the 9-EMA; sold at the 15:30 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+$846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+11.4R on the planned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976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A1B26"/>
                </a:solidFill>
                <a:latin typeface="Lato"/>
              </a:rPr>
              <a:t>•  Runner management is the whole P&amp;L</a:t>
            </a:r>
            <a:r>
              <a:rPr sz="1200">
                <a:solidFill>
                  <a:srgbClr val="1A1B26"/>
                </a:solidFill>
                <a:latin typeface="Lato"/>
              </a:rPr>
              <a:t> the ten largest wins are 144% of the net profit. Nothing in the rule takes partial profit; adding a partial at +1R tripled the win rate and removed most of the profit in the sister test.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1B26"/>
                </a:solidFill>
                <a:latin typeface="Lato"/>
              </a:rPr>
              <a:t>•  Stop fills are the risk</a:t>
            </a:r>
            <a:r>
              <a:rPr sz="1200">
                <a:solidFill>
                  <a:srgbClr val="1A1B26"/>
                </a:solidFill>
                <a:latin typeface="Lato"/>
              </a:rPr>
              <a:t> 513 of 733 exits are stops. Five cents of adverse slippage per stop turns +86R into +35R; measure the first twenty live stops before sizing above 1R.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A1B26"/>
                </a:solidFill>
                <a:latin typeface="Lato"/>
              </a:rPr>
              <a:t>READING THE TAPE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Lato"/>
              </a:rPr>
              <a:t>What to watch at the level between 09:30 and 10:00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Lato"/>
              </a:rPr>
              <a:t>Hypothetical backtest results on Massive.com minute data; simulated trades were not executed and do not reflect slippage, commissions or liquidity except where stated. Not investment advice. PlayBook format after SMB Training.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66666"/>
                </a:solidFill>
                <a:latin typeface="Lato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At the 34-SMA</a:t>
            </a:r>
            <a:r>
              <a:rPr sz="1300">
                <a:solidFill>
                  <a:srgbClr val="1A1B26"/>
                </a:solidFill>
                <a:latin typeface="Lato"/>
              </a:rPr>
              <a:t> does the opening drive stall at the level or trade through it? A fill that comes with size lifting the offer (long) or hitting the bid (short) into the level is the good version; a fill inside a one-minute flush that keeps going is the stop.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Premarket VWAP</a:t>
            </a:r>
            <a:r>
              <a:rPr sz="1300">
                <a:solidFill>
                  <a:srgbClr val="1A1B26"/>
                </a:solidFill>
                <a:latin typeface="Lato"/>
              </a:rPr>
              <a:t> the second reference. For a long, price holding between the 34-SMA and the PM VWAP after the fill is confirmation; a print back below the PM VWAP with the 9-EMA turning is the early warning the 15-minute close will confirm.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The 09:45 close</a:t>
            </a:r>
            <a:r>
              <a:rPr sz="1300">
                <a:solidFill>
                  <a:srgbClr val="1A1B26"/>
                </a:solidFill>
                <a:latin typeface="Lato"/>
              </a:rPr>
              <a:t> the first completed bar. Above the 9-EMA arms the exit and says the drive is real; below it and the trade is living on the stop.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Level to watch on the tape</a:t>
            </a:r>
            <a:r>
              <a:rPr sz="1300">
                <a:solidFill>
                  <a:srgbClr val="1A1B26"/>
                </a:solidFill>
                <a:latin typeface="Lato"/>
              </a:rPr>
              <a:t> the fill price itself. The trade that never comes back to the fill after 09:45 is the runner; the one that keeps testing it is a scratch waiting to happen.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Speed</a:t>
            </a:r>
            <a:r>
              <a:rPr sz="1300">
                <a:solidFill>
                  <a:srgbClr val="1A1B26"/>
                </a:solidFill>
                <a:latin typeface="Lato"/>
              </a:rPr>
              <a:t> median one minute from fill to stop in the losing form. If the first minute after the fill runs against you, there is no decision to make; the stop makes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A1B26"/>
                </a:solidFill>
                <a:latin typeface="Lato"/>
              </a:rP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Lato"/>
              </a:rPr>
              <a:t>Everything the trade needs is scripted; the human job is the 09:15 read and the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Lato"/>
              </a:rPr>
              <a:t>Hypothetical backtest results on Massive.com minute data; simulated trades were not executed and do not reflect slippage, commissions or liquidity except where stated. Not investment advice. PlayBook format after SMB Training.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66666"/>
                </a:solidFill>
                <a:latin typeface="Lato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Scan</a:t>
            </a:r>
            <a:r>
              <a:rPr sz="1300">
                <a:solidFill>
                  <a:srgbClr val="1A1B26"/>
                </a:solidFill>
                <a:latin typeface="Lato"/>
              </a:rPr>
              <a:t> fl_forward_test.py breadth and gameplan reader; premarket-ratio filter is the --pm-vol-mult logic in backtest_sma34_trend.py, to be lifted into the driver.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Order</a:t>
            </a:r>
            <a:r>
              <a:rPr sz="1300">
                <a:solidFill>
                  <a:srgbClr val="1A1B26"/>
                </a:solidFill>
                <a:latin typeface="Lato"/>
              </a:rPr>
              <a:t> DAS bracket via the CMD API (SCRIPT montage1 …): limit at the level, SLP stop at 1.0×ATR, sized by the R-CONFIG unit. Refuses without an ATR value.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Exit</a:t>
            </a:r>
            <a:r>
              <a:rPr sz="1300">
                <a:solidFill>
                  <a:srgbClr val="1A1B26"/>
                </a:solidFill>
                <a:latin typeface="Lato"/>
              </a:rPr>
              <a:t> 9-EMA close monitor on 15-minute bars, same pattern as the FL driver's ema9 exit; breakeven and flatten paths already exist (22-fl-flatten.das).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Chart</a:t>
            </a:r>
            <a:r>
              <a:rPr sz="1300">
                <a:solidFill>
                  <a:srgbClr val="1A1B26"/>
                </a:solidFill>
                <a:latin typeface="Lato"/>
              </a:rPr>
              <a:t> DAS 15-minute with extended hours ON, studies 9-EMA, 34-SMA, VWAP (premarket); the regular-hours chart gives a different level and a worse result for this form.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Safety</a:t>
            </a:r>
            <a:r>
              <a:rPr sz="1300">
                <a:solidFill>
                  <a:srgbClr val="1A1B26"/>
                </a:solidFill>
                <a:latin typeface="Lato"/>
              </a:rPr>
              <a:t> paper account TR4425 only until twenty live stop fills are measured; the driver halts new entries when the montage name is lost (the 09-25 failure).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Reproduce</a:t>
            </a:r>
            <a:r>
              <a:rPr sz="1300">
                <a:solidFill>
                  <a:srgbClr val="1A1B26"/>
                </a:solidFill>
                <a:latin typeface="Lato"/>
              </a:rPr>
              <a:t> docs/forward-tests/sma34-trend-3y.md, backtest/results/sma34-3y-preopen-ext-ema-s10.json.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A1B26"/>
                </a:solidFill>
                <a:latin typeface="Lato"/>
              </a:rPr>
              <a:t>TRADE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Lato"/>
              </a:rPr>
              <a:t>What the three years say to do better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Lato"/>
              </a:rPr>
              <a:t>Hypothetical backtest results on Massive.com minute data; simulated trades were not executed and do not reflect slippage, commissions or liquidity except where stated. Not investment advice. PlayBook format after SMB Training.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66666"/>
                </a:solidFill>
                <a:latin typeface="Lato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9494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A1B26"/>
                </a:solidFill>
                <a:latin typeface="Lato"/>
              </a:rPr>
              <a:t>•  The original form does not work</a:t>
            </a:r>
            <a:r>
              <a:rPr sz="1200">
                <a:solidFill>
                  <a:srgbClr val="1A1B26"/>
                </a:solidFill>
                <a:latin typeface="Lato"/>
              </a:rPr>
              <a:t> 0.75×ATR stop with a 1.8R target is −14R pre-open and −71R re-priced intraday; the opening minute takes the stop before the level can react.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1B26"/>
                </a:solidFill>
                <a:latin typeface="Lato"/>
              </a:rPr>
              <a:t>•  Two changes made it</a:t>
            </a:r>
            <a:r>
              <a:rPr sz="1200">
                <a:solidFill>
                  <a:srgbClr val="1A1B26"/>
                </a:solidFill>
                <a:latin typeface="Lato"/>
              </a:rPr>
              <a:t> a trailing exit on the 9-EMA close instead of the target, and a stop outside the opening minute's range. Together they are the only positive pre-open form found.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1B26"/>
                </a:solidFill>
                <a:latin typeface="Lato"/>
              </a:rPr>
              <a:t>•  It is a runner strategy with a 27% win rate</a:t>
            </a:r>
            <a:r>
              <a:rPr sz="1200">
                <a:solidFill>
                  <a:srgbClr val="1A1B26"/>
                </a:solidFill>
                <a:latin typeface="Lato"/>
              </a:rPr>
              <a:t> four trades in ten stop within minutes, one in four pays. Size for that, not for the win rate.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1B26"/>
                </a:solidFill>
                <a:latin typeface="Lato"/>
              </a:rPr>
              <a:t>•  In-sample</a:t>
            </a:r>
            <a:r>
              <a:rPr sz="1200">
                <a:solidFill>
                  <a:srgbClr val="1A1B26"/>
                </a:solidFill>
                <a:latin typeface="Lato"/>
              </a:rPr>
              <a:t> chart type, stop width and exit were chosen after seeing the data. 2024 was flat; the three months of 2023 supplied 38 of the 86R. A walk-forward that picks the premarket band on 2024 alone is the next test.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1B26"/>
                </a:solidFill>
                <a:latin typeface="Lato"/>
              </a:rPr>
              <a:t>•  Fills</a:t>
            </a:r>
            <a:r>
              <a:rPr sz="1200">
                <a:solidFill>
                  <a:srgbClr val="1A1B26"/>
                </a:solidFill>
                <a:latin typeface="Lato"/>
              </a:rPr>
              <a:t> touch-equals-fill at the limit and clean stop fills are assumed. Requiring a 1¢ trade-through cost 4R; five cents of stop slippage cost 51R.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1B26"/>
                </a:solidFill>
                <a:latin typeface="Lato"/>
              </a:rPr>
              <a:t>•  Next</a:t>
            </a:r>
            <a:r>
              <a:rPr sz="1200">
                <a:solidFill>
                  <a:srgbClr val="1A1B26"/>
                </a:solidFill>
                <a:latin typeface="Lato"/>
              </a:rPr>
              <a:t> measure live stop slippage on TR4425; add --entry-window and the premarket scan to the driver; write the DAS bracket hotkey for the pre-open order.</a:t>
            </a:r>
          </a:p>
        </p:txBody>
      </p:sp>
      <p:pic>
        <p:nvPicPr>
          <p:cNvPr id="7" name="Picture 6" descr="sma34_equ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463040"/>
            <a:ext cx="4480560" cy="17107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A1B26"/>
                </a:solidFill>
                <a:latin typeface="Lato"/>
              </a:rPr>
              <a:t>EV CALCULATOR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Lato"/>
              </a:rPr>
              <a:t>Expectancy from the simulated distribution (SMB's EV sheet inputs)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Lato"/>
              </a:rPr>
              <a:t>Hypothetical backtest results on Massive.com minute data; simulated trades were not executed and do not reflect slippage, commissions or liquidity except where stated. Not investment advice. PlayBook format after SMB Training.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66666"/>
                </a:solidFill>
                <a:latin typeface="Lato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011680"/>
                <a:gridCol w="5943600"/>
              </a:tblGrid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B26"/>
                          </a:solidFill>
                          <a:latin typeface="Lato"/>
                        </a:rPr>
                        <a:t>Input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B26"/>
                          </a:solidFill>
                          <a:latin typeface="Lato"/>
                        </a:rPr>
                        <a:t>Value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B26"/>
                          </a:solidFill>
                          <a:latin typeface="Lato"/>
                        </a:rPr>
                        <a:t>Note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Win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27.1%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199 winners / 733 trades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Average winner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+2.63R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1R = the planned stop distance × shares = $75 in SIM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Average loser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−0.82R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smaller than 1R: gap-through and breakeven exits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Expectancy per trade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+0.118R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wr × avg win − (1 − wr) × avg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Three-year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+86R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max drawdown 35.4R · daily Sharpe 0.83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With 5¢ adverse slippage on every stop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+35R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the number that decides whether it is tradeable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5720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Lato"/>
              </a:rPr>
              <a:t>Read: a +0.12R expectancy on 733 trades is real but thin; it is carried by a 2.6R average winner against a 0.82R average loser. Any change that raises the win rate by capping winners destroys it. The friction row is the number to beat live.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A1B26"/>
                </a:solidFill>
                <a:latin typeface="Lato"/>
              </a:rPr>
              <a:t>SCORE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Lato"/>
              </a:rPr>
              <a:t>Self-graded 1–10 against the SMB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Lato"/>
              </a:rPr>
              <a:t>Hypothetical backtest results on Massive.com minute data; simulated trades were not executed and do not reflect slippage, commissions or liquidity except where stated. Not investment advice. PlayBook format after SMB Training.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66666"/>
                </a:solidFill>
                <a:latin typeface="Lato"/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914400"/>
                <a:gridCol w="722376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B26"/>
                          </a:solidFill>
                          <a:latin typeface="Lato"/>
                        </a:rPr>
                        <a:t>Area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B26"/>
                          </a:solidFill>
                          <a:latin typeface="Lato"/>
                        </a:rPr>
                        <a:t>Grade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B26"/>
                          </a:solidFill>
                          <a:latin typeface="Lato"/>
                        </a:rPr>
                        <a:t>Reason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Big Picture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Market direction is context only; no index filter was found that helped.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Intraday Fundamentals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One clean, testable filter (premarket volume ratio); no news or catalyst layer yet.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Stock Selection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Single stocks with range; ETFs and small caps excluded for stated reasons.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Technical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Level, read and exit are all defined on one chart and were simulated without look-ahead.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Trade Strategy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Rule is explicit and reproducible; chosen in-sample, so provisional.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Risk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Stop is defined and sized; stop-fill slippage is unmeasured and decides the edge.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Reading the Tape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Tape rules are written from the simulation, not from watching fills yet.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Technology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Backtester, driver, CMD API harness and flatten paths exist; pre-open bracket hotkey still to write.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Review: what can you do better?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Walk-forward, live slippage, entry window; all listed and scheduled.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