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34-SMA PREMARKET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A Trading As Buddies PlayBook · example trade RKLB · May 11,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Setup</a:t>
            </a:r>
            <a:r>
              <a:rPr sz="1600">
                <a:solidFill>
                  <a:srgbClr val="1A1B26"/>
                </a:solidFill>
                <a:latin typeface="Lato"/>
              </a:rPr>
              <a:t> a limit order placed before the bell at the 34-SMA of the extended-hours 15-minute chart, in the direction of the premarket trend.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Trend read</a:t>
            </a:r>
            <a:r>
              <a:rPr sz="1600">
                <a:solidFill>
                  <a:srgbClr val="1A1B26"/>
                </a:solidFill>
                <a:latin typeface="Lato"/>
              </a:rPr>
              <a:t> 15-minute 9-EMA above the premarket VWAP → long; below → short. Read once, pre-open.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Stock selection</a:t>
            </a:r>
            <a:r>
              <a:rPr sz="1600">
                <a:solidFill>
                  <a:srgbClr val="1A1B26"/>
                </a:solidFill>
                <a:latin typeface="Lato"/>
              </a:rPr>
              <a:t> medium and large caps with premarket volume at least 2× their own 20-day median.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600">
                <a:solidFill>
                  <a:srgbClr val="1A1B26"/>
                </a:solidFill>
                <a:latin typeface="Lato"/>
              </a:rPr>
              <a:t> 1.0×ATR stop, no target; exit on the first 15-minute close back across the 9-EMA. Flat at 15:55.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Evidence</a:t>
            </a:r>
            <a:r>
              <a:rPr sz="1600">
                <a:solidFill>
                  <a:srgbClr val="1A1B26"/>
                </a:solidFill>
                <a:latin typeface="Lato"/>
              </a:rPr>
              <a:t> 733 simulated trades over three years on 14 names, +86R, +35R after 5¢ of stop slippage.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B26"/>
                </a:solidFill>
                <a:latin typeface="Lato"/>
              </a:rPr>
              <a:t>•  How to start</a:t>
            </a:r>
            <a:r>
              <a:rPr sz="1600">
                <a:solidFill>
                  <a:srgbClr val="1A1B26"/>
                </a:solidFill>
                <a:latin typeface="Lato"/>
              </a:rPr>
              <a:t> trade it at 1R in simulation until you have twenty stop fills to measure. Every element of this rule was chosen after seeing the data; treat the numbers as in-sample.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$SPY on the example day · open 736.45, close 739.26 (+0.38%)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2</a:t>
            </a:r>
          </a:p>
        </p:txBody>
      </p:sp>
      <p:pic>
        <p:nvPicPr>
          <p:cNvPr id="6" name="Picture 5" descr="sma34_s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setup is a single-stock premarket-volume play; the market only has to not fight it. SPY was quiet and slightly higher on the day, so the RKLB long was trading its own catalyst, not the tape.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BIGGER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$QQQ on the example day · open 710.36, close 713.38 (+0.43%)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3</a:t>
            </a:r>
          </a:p>
        </p:txBody>
      </p:sp>
      <p:pic>
        <p:nvPicPr>
          <p:cNvPr id="6" name="Picture 5" descr="sma34_q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515600" cy="4015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Over three years the rule made money in both directions (shorts 332 trades / +33R, longs 292 / +26R in the intraday form), so the index direction is context, not a filter.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INTRADAY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Why RKLB was on the list on 2026-05-11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Premarket volume 3.61× its 20-day median premarket volume</a:t>
            </a:r>
            <a:r>
              <a:rPr sz="1400">
                <a:solidFill>
                  <a:srgbClr val="1A1B26"/>
                </a:solidFill>
                <a:latin typeface="Lato"/>
              </a:rPr>
              <a:t> the only stock-selection filter. Two to three times is the sweet spot; above five it trades worse.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Pre-open read at 09:15</a:t>
            </a:r>
            <a:r>
              <a:rPr sz="1400">
                <a:solidFill>
                  <a:srgbClr val="1A1B26"/>
                </a:solidFill>
                <a:latin typeface="Lato"/>
              </a:rPr>
              <a:t> 9-EMA 105.09 above the premarket VWAP 105.04, so the trend was up and the order was a buy.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Level</a:t>
            </a:r>
            <a:r>
              <a:rPr sz="1400">
                <a:solidFill>
                  <a:srgbClr val="1A1B26"/>
                </a:solidFill>
                <a:latin typeface="Lato"/>
              </a:rPr>
              <a:t> the 34-SMA of the extended-hours 15-minute chart at 104.41, below the 09:29 price, so the limit rested away from the market.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B26"/>
                </a:solidFill>
                <a:latin typeface="Lato"/>
              </a:rPr>
              <a:t>•  Universe</a:t>
            </a:r>
            <a:r>
              <a:rPr sz="1400">
                <a:solidFill>
                  <a:srgbClr val="1A1B26"/>
                </a:solidFill>
                <a:latin typeface="Lato"/>
              </a:rPr>
              <a:t> your in-play list of medium and large caps (tested on AMD BB CRWD DELL DRI INTC IONQ META MSTR NVDA RKLB SMCI TSLA XOM). No ETFs, commodities or small caps: the stop needs single-stock range and the premarket filter needs a name with a normal premarket.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84048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00400"/>
                <a:gridCol w="2377440"/>
                <a:gridCol w="329184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Stat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Trades, 3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+86.5R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+0.118R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+2.63R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-0.82R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Max drawdown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35.4R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Daily Sharpe (all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By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2023 +38R, 2024 -2R, 2025 +13R, 2026 +38R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stop 513 · 9-EMA close 201 · 15:55 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Days with a 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1 in 3 across 14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One position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B26"/>
                          </a:solidFill>
                          <a:latin typeface="Lato"/>
                        </a:rPr>
                        <a:t>+32R on 230 trades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RKLB 2026-05-11 · 15-minute, extended hours · the level, the read, the fill and the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5</a:t>
            </a:r>
          </a:p>
        </p:txBody>
      </p:sp>
      <p:pic>
        <p:nvPicPr>
          <p:cNvPr id="6" name="Picture 5" descr="sma34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51006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TECHNICAL ANALYSIS (EXTRA)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first hour on 1-minute bars: the opening drive fills the resting order; the stop is 1.0×ATR so it survives the opening minute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6</a:t>
            </a:r>
          </a:p>
        </p:txBody>
      </p:sp>
      <p:pic>
        <p:nvPicPr>
          <p:cNvPr id="6" name="Picture 5" descr="sma34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0789920" cy="45121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Lato"/>
              </a:rPr>
              <a:t>Why 1.0×ATR and not 0.75: with the 0.75 stop, 344 of 521 first-fifteen-minute fills were stopped, median one minute after the fill. The opening minute's range is larger than 0.75 of a 15-minute ATR on these names.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The rule, as backtested (backtest/backtest_sma34_trend.py --preopen --gate 09:30 --exit-ema9-close --target-r 0 --stop-mult 1.0)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Scan 09:15</a:t>
            </a:r>
            <a:r>
              <a:rPr sz="1300">
                <a:solidFill>
                  <a:srgbClr val="1A1B26"/>
                </a:solidFill>
                <a:latin typeface="Lato"/>
              </a:rPr>
              <a:t> premarket volume ≥ 2× the name's 20-day median premarket volume. Skip names above 5× (they trade worse) and anything sub-$10 or post reverse-split.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Direction</a:t>
            </a:r>
            <a:r>
              <a:rPr sz="1300">
                <a:solidFill>
                  <a:srgbClr val="1A1B26"/>
                </a:solidFill>
                <a:latin typeface="Lato"/>
              </a:rPr>
              <a:t> 9-EMA on the extended-hours 15-minute chart above the premarket VWAP → long; below → short.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Order</a:t>
            </a:r>
            <a:r>
              <a:rPr sz="1300">
                <a:solidFill>
                  <a:srgbClr val="1A1B26"/>
                </a:solidFill>
                <a:latin typeface="Lato"/>
              </a:rPr>
              <a:t> limit at the 34-SMA value of the last completed 15-minute bar before 09:30. Only if the 09:29 price is on the trade side of it (buy below the market, sell short above it).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Stop</a:t>
            </a:r>
            <a:r>
              <a:rPr sz="1300">
                <a:solidFill>
                  <a:srgbClr val="1A1B26"/>
                </a:solidFill>
                <a:latin typeface="Lato"/>
              </a:rPr>
              <a:t> 1.0 × ATR(14) of the 15-minute chart, entered with the order as a bracket.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Target</a:t>
            </a:r>
            <a:r>
              <a:rPr sz="1300">
                <a:solidFill>
                  <a:srgbClr val="1A1B26"/>
                </a:solidFill>
                <a:latin typeface="Lato"/>
              </a:rPr>
              <a:t> none. Exit on the first 15-minute bar that closes back across the 9-EMA, after at least one bar has closed with the trade.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Time</a:t>
            </a:r>
            <a:r>
              <a:rPr sz="1300">
                <a:solidFill>
                  <a:srgbClr val="1A1B26"/>
                </a:solidFill>
                <a:latin typeface="Lato"/>
              </a:rPr>
              <a:t> order live 09:30 to 15:00; anything still open is flat at 15:55. One entry per name per day. Simplest form: one position a day, in the name with the heaviest premarket (+32R on 230 trades).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Size</a:t>
            </a:r>
            <a:r>
              <a:rPr sz="1300">
                <a:solidFill>
                  <a:srgbClr val="1A1B26"/>
                </a:solidFill>
                <a:latin typeface="Lato"/>
              </a:rPr>
              <a:t> shares = 1R ÷ stop distance, where 1R is the amount you risk per trade (we test at a tenth of a percent of capital). Cap size to what the name's liquidity fills cleanly.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Do not</a:t>
            </a:r>
            <a:r>
              <a:rPr sz="1300">
                <a:solidFill>
                  <a:srgbClr val="1A1B26"/>
                </a:solidFill>
                <a:latin typeface="Lato"/>
              </a:rPr>
              <a:t> re-price the order intraday, take a second fill, or hold a name that never closes a 15-minute bar with the trade past 12:00.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RKLB 2026-05-11 as it was simulated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3291840"/>
                <a:gridCol w="466344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Step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Time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Price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Detail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Pre-open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9-EMA 105.09 vs PM VWAP 105.04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long; 34-SMA 104.41; ATR 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Order placed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before 09:30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buy limit 104.41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stop 103.04 (1.0×ATR); shares = 1R ÷ 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104.41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opening drive trades down to the level, then reverses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Stop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09:30–09:45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low held above 103.04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the 0.75×ATR stop would have been 103.38: also held here, not in most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09:30 bar closed above the 9-EMA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the 9-EMA exit is now 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Exit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15:30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120.07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15:15 bar closed below the 9-EMA; sold at the 15:30 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+$846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+11.4R on the planned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Runner management is the whole P&amp;L</a:t>
            </a:r>
            <a:r>
              <a:rPr sz="1200">
                <a:solidFill>
                  <a:srgbClr val="1A1B26"/>
                </a:solidFill>
                <a:latin typeface="Lato"/>
              </a:rPr>
              <a:t> the ten largest wins are 144% of the net profit. Nothing in the rule takes partial profit; adding a partial at +1R tripled the win rate and removed most of the profit in the sister test.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Stop fills are the risk</a:t>
            </a:r>
            <a:r>
              <a:rPr sz="1200">
                <a:solidFill>
                  <a:srgbClr val="1A1B26"/>
                </a:solidFill>
                <a:latin typeface="Lato"/>
              </a:rPr>
              <a:t> 513 of 733 exits are stops. Five cents of adverse slippage per stop turns +86R into +35R; measure the first twenty live stops before sizing above 1R.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READING THE TAPE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to watch at the level between 09:30 and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At the 34-SMA</a:t>
            </a:r>
            <a:r>
              <a:rPr sz="1300">
                <a:solidFill>
                  <a:srgbClr val="1A1B26"/>
                </a:solidFill>
                <a:latin typeface="Lato"/>
              </a:rPr>
              <a:t> does the opening drive stall at the level or trade through it? A fill that comes with size lifting the offer (long) or hitting the bid (short) into the level is the good version; a fill inside a one-minute flush that keeps going is the stop.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Premarket VWAP</a:t>
            </a:r>
            <a:r>
              <a:rPr sz="1300">
                <a:solidFill>
                  <a:srgbClr val="1A1B26"/>
                </a:solidFill>
                <a:latin typeface="Lato"/>
              </a:rPr>
              <a:t> the second reference. For a long, price holding between the 34-SMA and the PM VWAP after the fill is confirmation; a print back below the PM VWAP with the 9-EMA turning is the early warning the 15-minute close will confirm.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The 09:45 close</a:t>
            </a:r>
            <a:r>
              <a:rPr sz="1300">
                <a:solidFill>
                  <a:srgbClr val="1A1B26"/>
                </a:solidFill>
                <a:latin typeface="Lato"/>
              </a:rPr>
              <a:t> the first completed bar. Above the 9-EMA arms the exit and says the drive is real; below it and the trade is living on the stop.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Level to watch on the tape</a:t>
            </a:r>
            <a:r>
              <a:rPr sz="1300">
                <a:solidFill>
                  <a:srgbClr val="1A1B26"/>
                </a:solidFill>
                <a:latin typeface="Lato"/>
              </a:rPr>
              <a:t> the fill price itself. The trade that never comes back to the fill after 09:45 is the runner; the one that keeps testing it is a scratch waiting to happen.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Speed</a:t>
            </a:r>
            <a:r>
              <a:rPr sz="1300">
                <a:solidFill>
                  <a:srgbClr val="1A1B26"/>
                </a:solidFill>
                <a:latin typeface="Lato"/>
              </a:rPr>
              <a:t> median one minute from fill to stop in the losing form. If the first minute after the fill runs against you, there is no decision to make; the stop makes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Everything the trade needs is scripted; the human job is the 09:15 read and the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Scan (09:15)</a:t>
            </a:r>
            <a:r>
              <a:rPr sz="1300">
                <a:solidFill>
                  <a:srgbClr val="1A1B26"/>
                </a:solidFill>
                <a:latin typeface="Lato"/>
              </a:rPr>
              <a:t> any scanner that shows premarket volume against the name's own average; the rule is today's premarket volume ÷ the 20-day median premarket volume ≥ 2.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Chart</a:t>
            </a:r>
            <a:r>
              <a:rPr sz="1300">
                <a:solidFill>
                  <a:srgbClr val="1A1B26"/>
                </a:solidFill>
                <a:latin typeface="Lato"/>
              </a:rPr>
              <a:t> 15-minute with extended hours ON, studies 9-EMA, 34-SMA and VWAP reset at 04:00 (premarket). A regular-hours chart gives a different level and a worse result for this form.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Order</a:t>
            </a:r>
            <a:r>
              <a:rPr sz="1300">
                <a:solidFill>
                  <a:srgbClr val="1A1B26"/>
                </a:solidFill>
                <a:latin typeface="Lato"/>
              </a:rPr>
              <a:t> a bracket placed before 09:30: limit at the 34-SMA value, stop 1.0×ATR away, quantity = 1R ÷ stop distance. In DAS Trader Pro that is one hotkey script; the open-source version is in the repo (scripts/).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Exit</a:t>
            </a:r>
            <a:r>
              <a:rPr sz="1300">
                <a:solidFill>
                  <a:srgbClr val="1A1B26"/>
                </a:solidFill>
                <a:latin typeface="Lato"/>
              </a:rPr>
              <a:t> watch the 15-minute closes against the 9-EMA; the exit is a market order at the open of the bar after the first close back across it. This can be a chart alert or a script.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Backtest</a:t>
            </a:r>
            <a:r>
              <a:rPr sz="1300">
                <a:solidFill>
                  <a:srgbClr val="1A1B26"/>
                </a:solidFill>
                <a:latin typeface="Lato"/>
              </a:rPr>
              <a:t> backtest/backtest_sma34_trend.py in the repo reproduces every number in this deck from Massive.com (Polygon) flat files; report in docs/forward-tests/sma34-trend-3y.md.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A1B26"/>
                </a:solidFill>
                <a:latin typeface="Lato"/>
              </a:rPr>
              <a:t>•  Safety</a:t>
            </a:r>
            <a:r>
              <a:rPr sz="1300">
                <a:solidFill>
                  <a:srgbClr val="1A1B26"/>
                </a:solidFill>
                <a:latin typeface="Lato"/>
              </a:rPr>
              <a:t> simulation first, one R, until you have measured twenty of your own stop fills against the stop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TRADE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What the three years say to do better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9494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The original form does not work</a:t>
            </a:r>
            <a:r>
              <a:rPr sz="1200">
                <a:solidFill>
                  <a:srgbClr val="1A1B26"/>
                </a:solidFill>
                <a:latin typeface="Lato"/>
              </a:rPr>
              <a:t> 0.75×ATR stop with a 1.8R target is −14R pre-open and −71R re-priced intraday; the opening minute takes the stop before the level can react.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Two changes made it</a:t>
            </a:r>
            <a:r>
              <a:rPr sz="1200">
                <a:solidFill>
                  <a:srgbClr val="1A1B26"/>
                </a:solidFill>
                <a:latin typeface="Lato"/>
              </a:rPr>
              <a:t> a trailing exit on the 9-EMA close instead of the target, and a stop outside the opening minute's range. Together they are the only positive pre-open form found.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It is a runner strategy with a 27% win rate</a:t>
            </a:r>
            <a:r>
              <a:rPr sz="1200">
                <a:solidFill>
                  <a:srgbClr val="1A1B26"/>
                </a:solidFill>
                <a:latin typeface="Lato"/>
              </a:rPr>
              <a:t> four trades in ten stop within minutes, one in four pays. Size for that, not for the win rate.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In-sample</a:t>
            </a:r>
            <a:r>
              <a:rPr sz="1200">
                <a:solidFill>
                  <a:srgbClr val="1A1B26"/>
                </a:solidFill>
                <a:latin typeface="Lato"/>
              </a:rPr>
              <a:t> chart type, stop width and exit were chosen after seeing the data. 2024 was flat; the three months of 2023 supplied 38 of the 86R. A walk-forward that picks the premarket band on 2024 alone is the next test.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Fills</a:t>
            </a:r>
            <a:r>
              <a:rPr sz="1200">
                <a:solidFill>
                  <a:srgbClr val="1A1B26"/>
                </a:solidFill>
                <a:latin typeface="Lato"/>
              </a:rPr>
              <a:t> touch-equals-fill at the limit and clean stop fills are assumed. Requiring a 1¢ trade-through cost 4R; five cents of stop slippage cost 51R.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1A1B26"/>
                </a:solidFill>
                <a:latin typeface="Lato"/>
              </a:rPr>
              <a:t>•  Next</a:t>
            </a:r>
            <a:r>
              <a:rPr sz="1200">
                <a:solidFill>
                  <a:srgbClr val="1A1B26"/>
                </a:solidFill>
                <a:latin typeface="Lato"/>
              </a:rPr>
              <a:t> measure your live stop slippage in simulation; test an entry window; run a walk-forward on the premarket band before sizing above 1R.</a:t>
            </a:r>
          </a:p>
        </p:txBody>
      </p:sp>
      <p:pic>
        <p:nvPicPr>
          <p:cNvPr id="7" name="Picture 6" descr="sma34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480560" cy="17107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EV CALCULATOR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Expectancy from the simulated distribution (SMB's EV sheet 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94360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Input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Value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B26"/>
                          </a:solidFill>
                          <a:latin typeface="Lato"/>
                        </a:rPr>
                        <a:t>Note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27.1%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199 winners / 733 trades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winner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+2.63R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1R = your risk per trade = planned stop distance × shares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Average loser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−0.82R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smaller than 1R: gap-through and breakeven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Expectancy per trade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+0.118R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wr × avg win − (1 − wr) × avg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Three-year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+86R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max drawdown 35.4R · daily Sharpe 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With 5¢ adverse slippage on every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+35R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B26"/>
                          </a:solidFill>
                          <a:latin typeface="Lato"/>
                        </a:rPr>
                        <a:t>the number that decides whether it is tradeable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572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Read: a +0.12R expectancy on 733 trades is real but thin; it is carried by a 2.6R average winner against a 0.82R average loser. Any change that raises the win rate by capping winners destroys it. The friction row is the number to beat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B26"/>
                </a:solidFill>
                <a:latin typeface="Lato"/>
              </a:rPr>
              <a:t>SCORE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Lato"/>
              </a:rPr>
              <a:t>Self-graded 1–10 against the SMB rubric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666666"/>
                </a:solidFill>
                <a:latin typeface="Lato"/>
              </a:rPr>
              <a:t>Hypothetical backtest results on Massive.com minute data; simulated trades were not executed and do not reflect slippage, commissions or liquidity except where stated. Not investment advice. Trading As Buddies · github.com/TradingAsBuddies/DAS-hotkeys · PlayBook format after SMB Training (not affiliated).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66666"/>
                </a:solidFill>
                <a:latin typeface="Lat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722376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Area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Grade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B26"/>
                          </a:solidFill>
                          <a:latin typeface="Lato"/>
                        </a:rPr>
                        <a:t>Reason</a:t>
                      </a:r>
                    </a:p>
                  </a:txBody>
                  <a:tcPr>
                    <a:solidFill>
                      <a:srgbClr val="F3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Big Picture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Market direction is context only; no index filter was found that helped.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Intraday Fundamentals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One clean, testable filter (premarket volume ratio); no news or catalyst layer yet.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Stock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Single stocks with range; ETFs and small caps excluded for stated reasons.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Technical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Level, read and exit are all defined on one chart and were simulated without look-ahead.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Trade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Rule is explicit and reproducible; chosen in-sample, so provisional.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Risk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Stop is defined and sized; stop-fill slippage is unmeasured and decides the edge.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Reading the Tape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Tape rules are written from the simulation, not from watching fills yet.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Technology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Backtester and DAS scripts are open source; the pre-open bracket is one hotkey; the 9-EMA exit still needs an alert or script.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Review: what can you do better?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B26"/>
                          </a:solidFill>
                          <a:latin typeface="Lato"/>
                        </a:rPr>
                        <a:t>Walk-forward, live slippage, entry window; all listed and scheduled.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