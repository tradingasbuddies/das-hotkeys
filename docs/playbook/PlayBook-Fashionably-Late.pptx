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FASHIONABLY 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SMB PlayBook · davdunc · 15-minute 9-EMA × 34-SMA cross · example trade MSTR · August 27,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Setup</a:t>
            </a:r>
            <a:r>
              <a:rPr sz="1500">
                <a:solidFill>
                  <a:srgbClr val="1A1B26"/>
                </a:solidFill>
                <a:latin typeface="Lato"/>
              </a:rPr>
              <a:t> the 15-minute 9-EMA crosses the 34-SMA on a regular-hours chart with volume above 1.5× the 20-bar average. Enter at the next bar's open.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When</a:t>
            </a:r>
            <a:r>
              <a:rPr sz="1500">
                <a:solidFill>
                  <a:srgbClr val="1A1B26"/>
                </a:solidFill>
                <a:latin typeface="Lato"/>
              </a:rPr>
              <a:t> entries from 09:45 to 11:00 only. The first bar after the open carries most of the edge; entries after 11:00 lose.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Stock selection</a:t>
            </a:r>
            <a:r>
              <a:rPr sz="1500">
                <a:solidFill>
                  <a:srgbClr val="1A1B26"/>
                </a:solidFill>
                <a:latin typeface="Lato"/>
              </a:rPr>
              <a:t> single stocks from the gameplan; no ETFs or commodities.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500">
                <a:solidFill>
                  <a:srgbClr val="1A1B26"/>
                </a:solidFill>
                <a:latin typeface="Lato"/>
              </a:rPr>
              <a:t> 0.75×ATR stop moved to breakeven at +0.5R, hold to the close. No target.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Evidence</a:t>
            </a:r>
            <a:r>
              <a:rPr sz="1500">
                <a:solidFill>
                  <a:srgbClr val="1A1B26"/>
                </a:solidFill>
                <a:latin typeface="Lato"/>
              </a:rPr>
              <a:t> 2282 simulated trades over three years, +201R, max drawdown 12.4R, +65R after 5¢ of stop slippage.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A1B26"/>
                </a:solidFill>
                <a:latin typeface="Lato"/>
              </a:rPr>
              <a:t>•  Correction 2026-09-27</a:t>
            </a:r>
            <a:r>
              <a:rPr sz="1500">
                <a:solidFill>
                  <a:srgbClr val="1A1B26"/>
                </a:solidFill>
                <a:latin typeface="Lato"/>
              </a:rPr>
              <a:t> an earlier figure of +292R included 387 entries at the 09:30 open on a cross printed on the prior day's last bar; those are a different trade and are removed here.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$SPY on the example day · open 768.50, close 771.07 (+0.33%)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2</a:t>
            </a:r>
          </a:p>
        </p:txBody>
      </p:sp>
      <p:pic>
        <p:nvPicPr>
          <p:cNvPr id="6" name="Picture 5" descr="fl_s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FL is a first-hour momentum trade in the stock; the market matters through breadth ($TICK, $ADD, $VOLD) at the time of the cross, which the driver reads, rather than through the index chart.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$QQQ on the example day · open 716.93, close 721.06 (+0.58%)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3</a:t>
            </a:r>
          </a:p>
        </p:txBody>
      </p:sp>
      <p:pic>
        <p:nvPicPr>
          <p:cNvPr id="6" name="Picture 5" descr="fl_q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Shorts carried about five times the longs over three years, but longs were not negative; both sides are taken.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INTRADAY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Why MSTR qualified on 2026-08-27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Gameplan name</a:t>
            </a:r>
            <a:r>
              <a:rPr sz="1400">
                <a:solidFill>
                  <a:srgbClr val="1A1B26"/>
                </a:solidFill>
                <a:latin typeface="Lato"/>
              </a:rPr>
              <a:t> MSTR was on the in-play list; FL is only run on the day's gameplan tickers, single stocks only.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The cross</a:t>
            </a:r>
            <a:r>
              <a:rPr sz="1400">
                <a:solidFill>
                  <a:srgbClr val="1A1B26"/>
                </a:solidFill>
                <a:latin typeface="Lato"/>
              </a:rPr>
              <a:t> on the 09:30–09:45 bar the 9-EMA closed above the 34-SMA on a regular-hours 15-minute chart, with the bar's volume above 1.5× the average of the prior 20 bars.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First bar after the open</a:t>
            </a:r>
            <a:r>
              <a:rPr sz="1400">
                <a:solidFill>
                  <a:srgbClr val="1A1B26"/>
                </a:solidFill>
                <a:latin typeface="Lato"/>
              </a:rPr>
              <a:t> this is where the rule earns. Over three years the 09:45 entries made +150R on 1,073 trades; 10:00 entries +36R on 614; 10:45 entries lost.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Universe</a:t>
            </a:r>
            <a:r>
              <a:rPr sz="1400">
                <a:solidFill>
                  <a:srgbClr val="1A1B26"/>
                </a:solidFill>
                <a:latin typeface="Lato"/>
              </a:rPr>
              <a:t> the 16 single stocks of the gameplans; the seven ETFs and commodities lost money under this rule and are excluded.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84048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2377440"/>
                <a:gridCol w="310896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Trades, 3 years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9.9% (1134 breakeven scratches)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+201.1R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+0.088R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+2.58R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-0.42R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Max drawdown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12.4R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Daily Sharpe (all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By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2023 -4R, 2024 +116R, 2025 +14R, 2026 +75R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stop 2053 (incl. breakeven) · close 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First-bar entries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1,073 trades, +150R, +82R with 5¢ slip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With 5¢ stop slippage, all entries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+65R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MSTR 2026-08-27 · 15-minute, regular hours · cross, entry, stop, breakeven,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5</a:t>
            </a:r>
          </a:p>
        </p:txBody>
      </p:sp>
      <p:pic>
        <p:nvPicPr>
          <p:cNvPr id="6" name="Picture 5" descr="fl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51006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 (EXTRA)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first two hours on 1-minute bars: entry at the 09:45 open, stop 0.75×ATR, breakeven after the first bar shows +0.5R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6</a:t>
            </a:r>
          </a:p>
        </p:txBody>
      </p:sp>
      <p:pic>
        <p:nvPicPr>
          <p:cNvPr id="6" name="Picture 5" descr="fl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45121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rule, as backtested (backtest_fl_week.py --bar-minutes 15 --rth-only --warmup-days 4 --stop-mult 0.75 --size-mult 1.5 --be-after 0.5 --last-entry 11:00)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Chart</a:t>
            </a:r>
            <a:r>
              <a:rPr sz="1300">
                <a:solidFill>
                  <a:srgbClr val="1A1B26"/>
                </a:solidFill>
                <a:latin typeface="Lato"/>
              </a:rPr>
              <a:t> 15-minute, regular hours only, 9-EMA and 34-SMA warm from four prior sessions.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Signal</a:t>
            </a:r>
            <a:r>
              <a:rPr sz="1300">
                <a:solidFill>
                  <a:srgbClr val="1A1B26"/>
                </a:solidFill>
                <a:latin typeface="Lato"/>
              </a:rPr>
              <a:t> a completed bar whose close moves the 9-EMA across the 34-SMA, with that bar's volume above 1.5× the average of the 20 bars before it. Crosses printed on a prior day's bar do not count.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Entry</a:t>
            </a:r>
            <a:r>
              <a:rPr sz="1300">
                <a:solidFill>
                  <a:srgbClr val="1A1B26"/>
                </a:solidFill>
                <a:latin typeface="Lato"/>
              </a:rPr>
              <a:t> market at the open of the next bar, 09:45 to 11:00 only. Two entries per name per day at most.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Stop</a:t>
            </a:r>
            <a:r>
              <a:rPr sz="1300">
                <a:solidFill>
                  <a:srgbClr val="1A1B26"/>
                </a:solidFill>
                <a:latin typeface="Lato"/>
              </a:rPr>
              <a:t> 0.75 × ATR(14) of the 15-minute chart, sized as if it were 1.5×ATR (the SIM convention), 1R = $75 SIM / $28 live.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Breakeven</a:t>
            </a:r>
            <a:r>
              <a:rPr sz="1300">
                <a:solidFill>
                  <a:srgbClr val="1A1B26"/>
                </a:solidFill>
                <a:latin typeface="Lato"/>
              </a:rPr>
              <a:t> once a completed bar has shown +0.5R in favour, move the stop to entry.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300">
                <a:solidFill>
                  <a:srgbClr val="1A1B26"/>
                </a:solidFill>
                <a:latin typeface="Lato"/>
              </a:rPr>
              <a:t> hold to the close (flat at 15:55). No target, no partials: partial profit at +1R cut the three-year result by 85%.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Do not</a:t>
            </a:r>
            <a:r>
              <a:rPr sz="1300">
                <a:solidFill>
                  <a:srgbClr val="1A1B26"/>
                </a:solidFill>
                <a:latin typeface="Lato"/>
              </a:rPr>
              <a:t> trade the 1-minute cross (−7,680R over three years), enter after 11:00, or use a 9-EMA trail on 1-minute bars (−1,395R).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Breadth gate</a:t>
            </a:r>
            <a:r>
              <a:rPr sz="1300">
                <a:solidFill>
                  <a:srgbClr val="1A1B26"/>
                </a:solidFill>
                <a:latin typeface="Lato"/>
              </a:rPr>
              <a:t> the driver suppresses a signal whose side disagrees with $VOLD; keep it, it filtered direction correctly on 09-25.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MSTR 2026-08-27 as it was simulated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3108960"/>
                <a:gridCol w="466344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Step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Time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Price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Detail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Cross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09:30 bar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9-EMA crosses above the 34-SMA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bar volume above 1.5× the 20-bar average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open of the next bar + 0.15 slip; 54 shares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Initial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127.71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0.75 × ATR 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Breakeven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the 09:45 bar showed more than +0.5R; stop to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15:45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137.24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flat at the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+$477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+6.4R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Half the trades scratch at breakeven</a:t>
            </a:r>
            <a:r>
              <a:rPr sz="1200">
                <a:solidFill>
                  <a:srgbClr val="1A1B26"/>
                </a:solidFill>
                <a:latin typeface="Lato"/>
              </a:rPr>
              <a:t> 1,134 of 2,282 exits are at entry. That is the design; the stop is inside the noise and breakeven is the real stop.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One in ten pays</a:t>
            </a:r>
            <a:r>
              <a:rPr sz="1200">
                <a:solidFill>
                  <a:srgbClr val="1A1B26"/>
                </a:solidFill>
                <a:latin typeface="Lato"/>
              </a:rPr>
              <a:t> winners average 2.6R and the ten largest are a large share of the total. Never cap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READING THE TAPE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to watch on the cross bar and the bar after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Volume persistence</a:t>
            </a:r>
            <a:r>
              <a:rPr sz="1300">
                <a:solidFill>
                  <a:srgbClr val="1A1B26"/>
                </a:solidFill>
                <a:latin typeface="Lato"/>
              </a:rPr>
              <a:t> the cross bar's volume must be followed; the 50/2 rule from the LGCL review (each of the next two bars at least half the cross bar's volume) is the tape version of the 1.5× filter.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The 09:45 open</a:t>
            </a:r>
            <a:r>
              <a:rPr sz="1300">
                <a:solidFill>
                  <a:srgbClr val="1A1B26"/>
                </a:solidFill>
                <a:latin typeface="Lato"/>
              </a:rPr>
              <a:t> the entry is at the market; a wide spread or a print far from the 09:45 15-minute open is the slippage the backtest does not model.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First bar after entry</a:t>
            </a:r>
            <a:r>
              <a:rPr sz="1300">
                <a:solidFill>
                  <a:srgbClr val="1A1B26"/>
                </a:solidFill>
                <a:latin typeface="Lato"/>
              </a:rPr>
              <a:t> +0.5R moves the stop to breakeven. On the tape that is the bar that has to hold above the 9-EMA; if it closes back below, the scratch is coming.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Level to watch</a:t>
            </a:r>
            <a:r>
              <a:rPr sz="1300">
                <a:solidFill>
                  <a:srgbClr val="1A1B26"/>
                </a:solidFill>
                <a:latin typeface="Lato"/>
              </a:rPr>
              <a:t> the entry price. After breakeven the trade is free; the runner is the one that never revisits it.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Breadth</a:t>
            </a:r>
            <a:r>
              <a:rPr sz="1300">
                <a:solidFill>
                  <a:srgbClr val="1A1B26"/>
                </a:solidFill>
                <a:latin typeface="Lato"/>
              </a:rPr>
              <a:t> $VOLD sign must agree with the side at the cross; $TICK extremes against the trade at entry are a reason to wait one bar, not to skip.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Built and tested against DAS on the paper account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Driver</a:t>
            </a:r>
            <a:r>
              <a:rPr sz="1300">
                <a:solidFill>
                  <a:srgbClr val="1A1B26"/>
                </a:solidFill>
                <a:latin typeface="Lato"/>
              </a:rPr>
              <a:t> tools/fl_forward_test.py reads the DAS gameplan file, evaluates completed bars, injects entries through the CMD API into montage1, verifies every injection and halts on a lost window name.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Scripts</a:t>
            </a:r>
            <a:r>
              <a:rPr sz="1300">
                <a:solidFill>
                  <a:srgbClr val="1A1B26"/>
                </a:solidFill>
                <a:latin typeface="Lato"/>
              </a:rPr>
              <a:t> 20-fl-long.das / 21-fl-short.das place the entry with the 1.5×ATR stop; 22-fl-flatten.das closes by side and quantity; 00 loads the desktop.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Harness</a:t>
            </a:r>
            <a:r>
              <a:rPr sz="1300">
                <a:solidFill>
                  <a:srgbClr val="1A1B26"/>
                </a:solidFill>
                <a:latin typeface="Lato"/>
              </a:rPr>
              <a:t> tools/das_script_test.py runs, checks and dismisses script errors over the CMD API; docs/CMD-API-TESTING.md.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Backtest</a:t>
            </a:r>
            <a:r>
              <a:rPr sz="1300">
                <a:solidFill>
                  <a:srgbClr val="1A1B26"/>
                </a:solidFill>
                <a:latin typeface="Lato"/>
              </a:rPr>
              <a:t> backtest/backtest_fl_week.py on Massive flat files; gate fixed 2026-09-27 (entry-bar time, no prior-day crosses).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Still to build</a:t>
            </a:r>
            <a:r>
              <a:rPr sz="1300">
                <a:solidFill>
                  <a:srgbClr val="1A1B26"/>
                </a:solidFill>
                <a:latin typeface="Lato"/>
              </a:rPr>
              <a:t> --bar-minutes 15 mode in the driver, breakeven order update through %OrderAct, entry window 09:45–11:00, single-stock filter from the gameplan.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Lesson from 09-25</a:t>
            </a:r>
            <a:r>
              <a:rPr sz="1300">
                <a:solidFill>
                  <a:srgbClr val="1A1B26"/>
                </a:solidFill>
                <a:latin typeface="Lato"/>
              </a:rPr>
              <a:t> name montage1 by hand and File → Save Desktop; the driver now refuses to trade a window it cannot verify.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the three years say to do better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9494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The 1-minute rule as traded on 09-24 has no edge</a:t>
            </a:r>
            <a:r>
              <a:rPr sz="1200">
                <a:solidFill>
                  <a:srgbClr val="1A1B26"/>
                </a:solidFill>
                <a:latin typeface="Lato"/>
              </a:rPr>
              <a:t> 13 of 13 stops live, −7,680R over three years. The 15-minute chart is the setup.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The edge is the first bar</a:t>
            </a:r>
            <a:r>
              <a:rPr sz="1200">
                <a:solidFill>
                  <a:srgbClr val="1A1B26"/>
                </a:solidFill>
                <a:latin typeface="Lato"/>
              </a:rPr>
              <a:t> 09:45 entries carry three quarters of the profit. Everything after 11:00 is negative.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The gate error</a:t>
            </a:r>
            <a:r>
              <a:rPr sz="1200">
                <a:solidFill>
                  <a:srgbClr val="1A1B26"/>
                </a:solidFill>
                <a:latin typeface="Lato"/>
              </a:rPr>
              <a:t> until today the backtest let a cross on yesterday's last bar be bought at the open. Those 387 trades made +242R and are a different, untested idea (see the report). Removing them leaves +201R.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Win rate cannot be bought</a:t>
            </a:r>
            <a:r>
              <a:rPr sz="1200">
                <a:solidFill>
                  <a:srgbClr val="1A1B26"/>
                </a:solidFill>
                <a:latin typeface="Lato"/>
              </a:rPr>
              <a:t> partials raise it and destroy the P&amp;L; the return is the tail of runners into the close.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Friction</a:t>
            </a:r>
            <a:r>
              <a:rPr sz="1200">
                <a:solidFill>
                  <a:srgbClr val="1A1B26"/>
                </a:solidFill>
                <a:latin typeface="Lato"/>
              </a:rPr>
              <a:t> +65R after 5¢ stop slippage; first-bar entries alone +82R. Measure live stop fills before sizing.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Next</a:t>
            </a:r>
            <a:r>
              <a:rPr sz="1200">
                <a:solidFill>
                  <a:srgbClr val="1A1B26"/>
                </a:solidFill>
                <a:latin typeface="Lato"/>
              </a:rPr>
              <a:t> driver flags for the 15-minute rule, breakeven via %OrderAct, walk-forward on the entry window, and a separate test of the overnight cross.</a:t>
            </a:r>
          </a:p>
        </p:txBody>
      </p:sp>
      <p:pic>
        <p:nvPicPr>
          <p:cNvPr id="7" name="Picture 6" descr="fl_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480560" cy="17107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EV CALCULATOR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Expectancy from the simulated distribution (SMB's EV sheet inputs)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94360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Input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Note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227 winners / 2282 trades (1134 breakeven scratches)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+2.58R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1R = the planned stop distance × shares = $75 in 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−0.42R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smaller than 1R: gap-through and breakeven 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Expectancy 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-0.119R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wr × avg win − (1 − wr) × avg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Three-year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+201R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max drawdown 12.4R · daily Sharpe 2.17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With 5¢ adverse slippage on every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+65R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the number that decides whether it is tradeable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572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Read: +0.09R per trade with half the trades scratched. The average loser is 0.42R because the stop sits inside the noise and most losers are breakeven or gap-through fills; the average winner is 2.6R. Sharpe 2.2 and a 12R drawdown are the reasons to prefer this over the 34-SMA play for size.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SCORE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Self-graded 1–10 against the SMB rubric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PlayBook format after SMB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722376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Area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Grade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Reason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Big Picture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Breadth gate exists in the driver; no index-regime filter has been tested.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Intraday Fundamentals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Gameplan names only; no catalyst or news scoring yet.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Stock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Single stocks only, ETFs excluded on evidence; universe is still today's names run backwards.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Technical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Cross, volume, stop, breakeven and exit are all on one chart and reproducible.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Trade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Explicit and backtested; the gate error shows how a definition can drift from the chart.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Risk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Breakeven at +0.5R keeps the drawdown to 12R; stop slippage still unmeasured live.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Reading the Tape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50/2 volume persistence rule exists and is enforceable; not yet validated across a sample.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Driver, scripts, harness and backtester exist and were exercised live; 15-minute driver mode pending.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Review: what can you do better?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Two live days reviewed, both failures diagnosed to cause; corrections shipped as releases.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