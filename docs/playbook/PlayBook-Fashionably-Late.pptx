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A1B26"/>
                </a:solidFill>
                <a:latin typeface="Lato"/>
              </a:rPr>
              <a:t>FASHIONABLY 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Lato"/>
              </a:rPr>
              <a:t>A Trading As Buddies PlayBook · 15-minute 9-EMA × 34-SMA cross · example trade MSTR · August 27,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666666"/>
                </a:solidFill>
                <a:latin typeface="Lato"/>
              </a:rPr>
              <a:t>Hypothetical backtest results on Massive.com minute data; simulated trades were not executed and do not reflect slippage, commissions or liquidity except where stated. Not investment advice. Trading As Buddies · github.com/TradingAsBuddies/DAS-hotkeys · PlayBook format after SMB Training (not affiliated).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666666"/>
                </a:solidFill>
                <a:latin typeface="Lat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A1B26"/>
                </a:solidFill>
                <a:latin typeface="Lato"/>
              </a:rPr>
              <a:t>•  Setup</a:t>
            </a:r>
            <a:r>
              <a:rPr sz="1500">
                <a:solidFill>
                  <a:srgbClr val="1A1B26"/>
                </a:solidFill>
                <a:latin typeface="Lato"/>
              </a:rPr>
              <a:t> the 15-minute 9-EMA crosses the 34-SMA on a regular-hours chart with volume above 1.5× the 20-bar average. Enter at the next bar's open.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A1B26"/>
                </a:solidFill>
                <a:latin typeface="Lato"/>
              </a:rPr>
              <a:t>•  When</a:t>
            </a:r>
            <a:r>
              <a:rPr sz="1500">
                <a:solidFill>
                  <a:srgbClr val="1A1B26"/>
                </a:solidFill>
                <a:latin typeface="Lato"/>
              </a:rPr>
              <a:t> entries from 09:45 to 11:00 only. The first bar after the open carries most of the edge; entries after 11:00 lose.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A1B26"/>
                </a:solidFill>
                <a:latin typeface="Lato"/>
              </a:rPr>
              <a:t>•  Stock selection</a:t>
            </a:r>
            <a:r>
              <a:rPr sz="1500">
                <a:solidFill>
                  <a:srgbClr val="1A1B26"/>
                </a:solidFill>
                <a:latin typeface="Lato"/>
              </a:rPr>
              <a:t> single stocks from the morning in-play list; no ETFs or commodities. Prefer a name with an earnings release or 8-K in the prior 24 hours: those trades earn four times as much per unit of risk.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A1B26"/>
                </a:solidFill>
                <a:latin typeface="Lato"/>
              </a:rPr>
              <a:t>•  Exit</a:t>
            </a:r>
            <a:r>
              <a:rPr sz="1500">
                <a:solidFill>
                  <a:srgbClr val="1A1B26"/>
                </a:solidFill>
                <a:latin typeface="Lato"/>
              </a:rPr>
              <a:t> 0.75×ATR stop moved to breakeven at +0.5R, hold to the close. No target.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A1B26"/>
                </a:solidFill>
                <a:latin typeface="Lato"/>
              </a:rPr>
              <a:t>•  Evidence</a:t>
            </a:r>
            <a:r>
              <a:rPr sz="1500">
                <a:solidFill>
                  <a:srgbClr val="1A1B26"/>
                </a:solidFill>
                <a:latin typeface="Lato"/>
              </a:rPr>
              <a:t> 2282 simulated trades over three years, +201R, max drawdown 12.4R, +65R after 5¢ of stop slippage.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A1B26"/>
                </a:solidFill>
                <a:latin typeface="Lato"/>
              </a:rPr>
              <a:t>•  How to start</a:t>
            </a:r>
            <a:r>
              <a:rPr sz="1500">
                <a:solidFill>
                  <a:srgbClr val="1A1B26"/>
                </a:solidFill>
                <a:latin typeface="Lato"/>
              </a:rPr>
              <a:t> trade it at 1R in simulation; half the trades scratch at breakeven by design, and one in ten pays for everything.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A1B26"/>
                </a:solidFill>
                <a:latin typeface="Lato"/>
              </a:rPr>
              <a:t>BIGGER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Lato"/>
              </a:rPr>
              <a:t>$SPY on the example day · open 768.50, close 771.07 (+0.33%)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666666"/>
                </a:solidFill>
                <a:latin typeface="Lato"/>
              </a:rPr>
              <a:t>Hypothetical backtest results on Massive.com minute data; simulated trades were not executed and do not reflect slippage, commissions or liquidity except where stated. Not investment advice. Trading As Buddies · github.com/TradingAsBuddies/DAS-hotkeys · PlayBook format after SMB Training (not affiliated).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666666"/>
                </a:solidFill>
                <a:latin typeface="Lato"/>
              </a:rPr>
              <a:t>2</a:t>
            </a:r>
          </a:p>
        </p:txBody>
      </p:sp>
      <p:pic>
        <p:nvPicPr>
          <p:cNvPr id="6" name="Picture 5" descr="fl_s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10515600" cy="40150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692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Lato"/>
              </a:rPr>
              <a:t>FL is a first-hour momentum trade in the stock; the market matters through breadth ($TICK, $ADD, $VOLD) at the time of the cross, which the driver reads, rather than through the index chart.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A1B26"/>
                </a:solidFill>
                <a:latin typeface="Lato"/>
              </a:rPr>
              <a:t>BIGGER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Lato"/>
              </a:rPr>
              <a:t>$QQQ on the example day · open 716.93, close 721.06 (+0.58%)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666666"/>
                </a:solidFill>
                <a:latin typeface="Lato"/>
              </a:rPr>
              <a:t>Hypothetical backtest results on Massive.com minute data; simulated trades were not executed and do not reflect slippage, commissions or liquidity except where stated. Not investment advice. Trading As Buddies · github.com/TradingAsBuddies/DAS-hotkeys · PlayBook format after SMB Training (not affiliated).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666666"/>
                </a:solidFill>
                <a:latin typeface="Lato"/>
              </a:rPr>
              <a:t>3</a:t>
            </a:r>
          </a:p>
        </p:txBody>
      </p:sp>
      <p:pic>
        <p:nvPicPr>
          <p:cNvPr id="6" name="Picture 5" descr="fl_qq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10515600" cy="40150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692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Lato"/>
              </a:rPr>
              <a:t>Shorts carried about five times the longs over three years, but longs were not negative; both sides are taken.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A1B26"/>
                </a:solidFill>
                <a:latin typeface="Lato"/>
              </a:rPr>
              <a:t>INTRADAY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Lato"/>
              </a:rPr>
              <a:t>Why MSTR qualified on 2026-08-27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666666"/>
                </a:solidFill>
                <a:latin typeface="Lato"/>
              </a:rPr>
              <a:t>Hypothetical backtest results on Massive.com minute data; simulated trades were not executed and do not reflect slippage, commissions or liquidity except where stated. Not investment advice. Trading As Buddies · github.com/TradingAsBuddies/DAS-hotkeys · PlayBook format after SMB Training (not affiliated).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666666"/>
                </a:solidFill>
                <a:latin typeface="Lato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A1B26"/>
                </a:solidFill>
                <a:latin typeface="Lato"/>
              </a:rPr>
              <a:t>•  In-play name</a:t>
            </a:r>
            <a:r>
              <a:rPr sz="1400">
                <a:solidFill>
                  <a:srgbClr val="1A1B26"/>
                </a:solidFill>
                <a:latin typeface="Lato"/>
              </a:rPr>
              <a:t> MSTR was on the morning in-play list. Run FL only on that day's in-play single stocks; it is not a scan of the whole market.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1B26"/>
                </a:solidFill>
                <a:latin typeface="Lato"/>
              </a:rPr>
              <a:t>•  The cross</a:t>
            </a:r>
            <a:r>
              <a:rPr sz="1400">
                <a:solidFill>
                  <a:srgbClr val="1A1B26"/>
                </a:solidFill>
                <a:latin typeface="Lato"/>
              </a:rPr>
              <a:t> on the 09:30–09:45 bar the 9-EMA closed above the 34-SMA on a regular-hours 15-minute chart, with the bar's volume above 1.5× the average of the prior 20 bars.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1B26"/>
                </a:solidFill>
                <a:latin typeface="Lato"/>
              </a:rPr>
              <a:t>•  First bar after the open</a:t>
            </a:r>
            <a:r>
              <a:rPr sz="1400">
                <a:solidFill>
                  <a:srgbClr val="1A1B26"/>
                </a:solidFill>
                <a:latin typeface="Lato"/>
              </a:rPr>
              <a:t> this is where the rule earns. Over three years the 09:45 entries made +150R on 1,073 trades; 10:00 entries +36R on 614; 10:45 entries lost.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1B26"/>
                </a:solidFill>
                <a:latin typeface="Lato"/>
              </a:rPr>
              <a:t>•  Universe</a:t>
            </a:r>
            <a:r>
              <a:rPr sz="1400">
                <a:solidFill>
                  <a:srgbClr val="1A1B26"/>
                </a:solidFill>
                <a:latin typeface="Lato"/>
              </a:rPr>
              <a:t> the single stocks from the morning lists (16 names in the test); the seven ETFs and commodities lost money under this rule and are excluded.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1B26"/>
                </a:solidFill>
                <a:latin typeface="Lato"/>
              </a:rPr>
              <a:t>•  Catalyst</a:t>
            </a:r>
            <a:r>
              <a:rPr sz="1400">
                <a:solidFill>
                  <a:srgbClr val="1A1B26"/>
                </a:solidFill>
                <a:latin typeface="Lato"/>
              </a:rPr>
              <a:t> MSTR had no filing that morning, which is the common case (90% of trades). Earnings and 8-K mornings are 9% of the trades and 30% of the profit, +0.29R a trade against +0.07R; after 5¢ of stop slippage they are three quarters of what is left.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840480"/>
          <a:ext cx="112471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383280"/>
                <a:gridCol w="2377440"/>
                <a:gridCol w="3108960"/>
              </a:tblGrid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B26"/>
                          </a:solidFill>
                          <a:latin typeface="Lato"/>
                        </a:rPr>
                        <a:t>Stat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B26"/>
                          </a:solidFill>
                          <a:latin typeface="Lato"/>
                        </a:rPr>
                        <a:t>Value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B26"/>
                          </a:solidFill>
                          <a:latin typeface="Lato"/>
                        </a:rPr>
                        <a:t>Stat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B26"/>
                          </a:solidFill>
                          <a:latin typeface="Lato"/>
                        </a:rPr>
                        <a:t>Value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B26"/>
                          </a:solidFill>
                          <a:latin typeface="Lato"/>
                        </a:rPr>
                        <a:t>Trades, 3 years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B26"/>
                          </a:solidFill>
                          <a:latin typeface="Lato"/>
                        </a:rPr>
                        <a:t>2282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B26"/>
                          </a:solidFill>
                          <a:latin typeface="Lato"/>
                        </a:rPr>
                        <a:t>Win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B26"/>
                          </a:solidFill>
                          <a:latin typeface="Lato"/>
                        </a:rPr>
                        <a:t>9.9% (1134 breakeven scratches)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B26"/>
                          </a:solidFill>
                          <a:latin typeface="Lato"/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B26"/>
                          </a:solidFill>
                          <a:latin typeface="Lato"/>
                        </a:rPr>
                        <a:t>+201.1R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B26"/>
                          </a:solidFill>
                          <a:latin typeface="Lato"/>
                        </a:rPr>
                        <a:t>Per trade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B26"/>
                          </a:solidFill>
                          <a:latin typeface="Lato"/>
                        </a:rPr>
                        <a:t>+0.088R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B26"/>
                          </a:solidFill>
                          <a:latin typeface="Lato"/>
                        </a:rPr>
                        <a:t>Average winner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B26"/>
                          </a:solidFill>
                          <a:latin typeface="Lato"/>
                        </a:rPr>
                        <a:t>+2.58R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B26"/>
                          </a:solidFill>
                          <a:latin typeface="Lato"/>
                        </a:rPr>
                        <a:t>Average loser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B26"/>
                          </a:solidFill>
                          <a:latin typeface="Lato"/>
                        </a:rPr>
                        <a:t>-0.42R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B26"/>
                          </a:solidFill>
                          <a:latin typeface="Lato"/>
                        </a:rPr>
                        <a:t>Max drawdown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B26"/>
                          </a:solidFill>
                          <a:latin typeface="Lato"/>
                        </a:rPr>
                        <a:t>12.4R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B26"/>
                          </a:solidFill>
                          <a:latin typeface="Lato"/>
                        </a:rPr>
                        <a:t>Daily Sharpe (all days)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B26"/>
                          </a:solidFill>
                          <a:latin typeface="Lato"/>
                        </a:rPr>
                        <a:t>2.17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B26"/>
                          </a:solidFill>
                          <a:latin typeface="Lato"/>
                        </a:rPr>
                        <a:t>By year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B26"/>
                          </a:solidFill>
                          <a:latin typeface="Lato"/>
                        </a:rPr>
                        <a:t>2023 -4R, 2024 +116R, 2025 +14R, 2026 +75R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B26"/>
                          </a:solidFill>
                          <a:latin typeface="Lato"/>
                        </a:rPr>
                        <a:t>Exits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B26"/>
                          </a:solidFill>
                          <a:latin typeface="Lato"/>
                        </a:rPr>
                        <a:t>stop 2053 (incl. breakeven) · close 229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B26"/>
                          </a:solidFill>
                          <a:latin typeface="Lato"/>
                        </a:rPr>
                        <a:t>First-bar entries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B26"/>
                          </a:solidFill>
                          <a:latin typeface="Lato"/>
                        </a:rPr>
                        <a:t>1,073 trades, +150R, +82R with 5¢ slip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B26"/>
                          </a:solidFill>
                          <a:latin typeface="Lato"/>
                        </a:rPr>
                        <a:t>With 5¢ stop slippage, all entries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B26"/>
                          </a:solidFill>
                          <a:latin typeface="Lato"/>
                        </a:rPr>
                        <a:t>+65R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A1B26"/>
                </a:solidFill>
                <a:latin typeface="Lato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Lato"/>
              </a:rPr>
              <a:t>MSTR 2026-08-27 · 15-minute, regular hours · cross, entry, stop, breakeven, 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666666"/>
                </a:solidFill>
                <a:latin typeface="Lato"/>
              </a:rPr>
              <a:t>Hypothetical backtest results on Massive.com minute data; simulated trades were not executed and do not reflect slippage, commissions or liquidity except where stated. Not investment advice. Trading As Buddies · github.com/TradingAsBuddies/DAS-hotkeys · PlayBook format after SMB Training (not affiliated).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666666"/>
                </a:solidFill>
                <a:latin typeface="Lato"/>
              </a:rPr>
              <a:t>5</a:t>
            </a:r>
          </a:p>
        </p:txBody>
      </p:sp>
      <p:pic>
        <p:nvPicPr>
          <p:cNvPr id="6" name="Picture 5" descr="fl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10789920" cy="51006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A1B26"/>
                </a:solidFill>
                <a:latin typeface="Lato"/>
              </a:rPr>
              <a:t>TECHNICAL ANALYSIS (EXTRA)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Lato"/>
              </a:rPr>
              <a:t>The first two hours on 1-minute bars: entry at the 09:45 open, stop 0.75×ATR, breakeven after the first bar shows +0.5R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666666"/>
                </a:solidFill>
                <a:latin typeface="Lato"/>
              </a:rPr>
              <a:t>Hypothetical backtest results on Massive.com minute data; simulated trades were not executed and do not reflect slippage, commissions or liquidity except where stated. Not investment advice. Trading As Buddies · github.com/TradingAsBuddies/DAS-hotkeys · PlayBook format after SMB Training (not affiliated).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666666"/>
                </a:solidFill>
                <a:latin typeface="Lato"/>
              </a:rPr>
              <a:t>6</a:t>
            </a:r>
          </a:p>
        </p:txBody>
      </p:sp>
      <p:pic>
        <p:nvPicPr>
          <p:cNvPr id="6" name="Picture 5" descr="fl_f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10789920" cy="45121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A1B26"/>
                </a:solidFill>
                <a:latin typeface="Lato"/>
              </a:rPr>
              <a:t>INTRADAY FUNDAMENTALS: CATALYSTS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Lato"/>
              </a:rPr>
              <a:t>SEC EDGAR 8-K filings joined to every trade day · catalyst mornings are the richer trade and the friction-proof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666666"/>
                </a:solidFill>
                <a:latin typeface="Lato"/>
              </a:rPr>
              <a:t>Hypothetical backtest results on Massive.com minute data; simulated trades were not executed and do not reflect slippage, commissions or liquidity except where stated. Not investment advice. Trading As Buddies · github.com/TradingAsBuddies/DAS-hotkeys · PlayBook format after SMB Training (not affiliated).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666666"/>
                </a:solidFill>
                <a:latin typeface="Lato"/>
              </a:rPr>
              <a:t>7</a:t>
            </a:r>
          </a:p>
        </p:txBody>
      </p:sp>
      <p:pic>
        <p:nvPicPr>
          <p:cNvPr id="6" name="Picture 5" descr="fl_cataly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10789920" cy="41197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4864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Lato"/>
              </a:rPr>
              <a:t>Earnings and other-8-K reaction days: 204 trades, +59R, +0.29R each, +48R after 5¢ of stop slippage. Every other day: 2,078 trades, +142R, +0.07R each, +17R after slippage. The chance that a random 204-trade subset does this well is under 1%.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A1B26"/>
                </a:solidFill>
                <a:latin typeface="Lato"/>
              </a:rPr>
              <a:t>TRADE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Lato"/>
              </a:rPr>
              <a:t>The rule, as backtested (backtest_fl_week.py --bar-minutes 15 --rth-only --warmup-days 4 --stop-mult 0.75 --size-mult 1.5 --be-after 0.5 --last-entry 11:00)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666666"/>
                </a:solidFill>
                <a:latin typeface="Lato"/>
              </a:rPr>
              <a:t>Hypothetical backtest results on Massive.com minute data; simulated trades were not executed and do not reflect slippage, commissions or liquidity except where stated. Not investment advice. Trading As Buddies · github.com/TradingAsBuddies/DAS-hotkeys · PlayBook format after SMB Training (not affiliated).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666666"/>
                </a:solidFill>
                <a:latin typeface="Lato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A1B26"/>
                </a:solidFill>
                <a:latin typeface="Lato"/>
              </a:rPr>
              <a:t>•  Chart</a:t>
            </a:r>
            <a:r>
              <a:rPr sz="1300">
                <a:solidFill>
                  <a:srgbClr val="1A1B26"/>
                </a:solidFill>
                <a:latin typeface="Lato"/>
              </a:rPr>
              <a:t> 15-minute, regular hours only, 9-EMA and 34-SMA warm from four prior sessions.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A1B26"/>
                </a:solidFill>
                <a:latin typeface="Lato"/>
              </a:rPr>
              <a:t>•  Signal</a:t>
            </a:r>
            <a:r>
              <a:rPr sz="1300">
                <a:solidFill>
                  <a:srgbClr val="1A1B26"/>
                </a:solidFill>
                <a:latin typeface="Lato"/>
              </a:rPr>
              <a:t> a completed bar whose close moves the 9-EMA across the 34-SMA, with that bar's volume above 1.5× the average of the 20 bars before it. Crosses printed on a prior day's bar do not count.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A1B26"/>
                </a:solidFill>
                <a:latin typeface="Lato"/>
              </a:rPr>
              <a:t>•  Catalyst</a:t>
            </a:r>
            <a:r>
              <a:rPr sz="1300">
                <a:solidFill>
                  <a:srgbClr val="1A1B26"/>
                </a:solidFill>
                <a:latin typeface="Lato"/>
              </a:rPr>
              <a:t> when more signals fire than you can take, take the names with an earnings release or 8-K in the prior 24 hours first. Without a catalyst, take the trade only if your measured stop slippage is under two cents.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A1B26"/>
                </a:solidFill>
                <a:latin typeface="Lato"/>
              </a:rPr>
              <a:t>•  Entry</a:t>
            </a:r>
            <a:r>
              <a:rPr sz="1300">
                <a:solidFill>
                  <a:srgbClr val="1A1B26"/>
                </a:solidFill>
                <a:latin typeface="Lato"/>
              </a:rPr>
              <a:t> market at the open of the next bar, 09:45 to 11:00 only. Two entries per name per day at most.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A1B26"/>
                </a:solidFill>
                <a:latin typeface="Lato"/>
              </a:rPr>
              <a:t>•  Stop</a:t>
            </a:r>
            <a:r>
              <a:rPr sz="1300">
                <a:solidFill>
                  <a:srgbClr val="1A1B26"/>
                </a:solidFill>
                <a:latin typeface="Lato"/>
              </a:rPr>
              <a:t> 0.75 × ATR(14) of the 15-minute chart. Size = 1R ÷ (1.5 × ATR), so the position is half what the stop alone would allow; 1R is the amount you risk per trade.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A1B26"/>
                </a:solidFill>
                <a:latin typeface="Lato"/>
              </a:rPr>
              <a:t>•  Breakeven</a:t>
            </a:r>
            <a:r>
              <a:rPr sz="1300">
                <a:solidFill>
                  <a:srgbClr val="1A1B26"/>
                </a:solidFill>
                <a:latin typeface="Lato"/>
              </a:rPr>
              <a:t> once a completed bar has shown +0.5R in favour, move the stop to entry.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A1B26"/>
                </a:solidFill>
                <a:latin typeface="Lato"/>
              </a:rPr>
              <a:t>•  Exit</a:t>
            </a:r>
            <a:r>
              <a:rPr sz="1300">
                <a:solidFill>
                  <a:srgbClr val="1A1B26"/>
                </a:solidFill>
                <a:latin typeface="Lato"/>
              </a:rPr>
              <a:t> hold to the close (flat at 15:55). No target, no partials: partial profit at +1R cut the three-year result by 85%.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A1B26"/>
                </a:solidFill>
                <a:latin typeface="Lato"/>
              </a:rPr>
              <a:t>•  Do not</a:t>
            </a:r>
            <a:r>
              <a:rPr sz="1300">
                <a:solidFill>
                  <a:srgbClr val="1A1B26"/>
                </a:solidFill>
                <a:latin typeface="Lato"/>
              </a:rPr>
              <a:t> trade the 1-minute cross (−7,680R over three years), enter after 11:00, or use a 9-EMA trail on 1-minute bars (−1,395R).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A1B26"/>
                </a:solidFill>
                <a:latin typeface="Lato"/>
              </a:rPr>
              <a:t>•  Breadth gate</a:t>
            </a:r>
            <a:r>
              <a:rPr sz="1300">
                <a:solidFill>
                  <a:srgbClr val="1A1B26"/>
                </a:solidFill>
                <a:latin typeface="Lato"/>
              </a:rPr>
              <a:t> skip a signal whose side disagrees with the sign of $VOLD (NYSE up-volume minus down-volume) at the time of the cross.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A1B26"/>
                </a:solidFill>
                <a:latin typeface="Lato"/>
              </a:rPr>
              <a:t>TRADE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Lato"/>
              </a:rPr>
              <a:t>MSTR 2026-08-27 as it was simulated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666666"/>
                </a:solidFill>
                <a:latin typeface="Lato"/>
              </a:rPr>
              <a:t>Hypothetical backtest results on Massive.com minute data; simulated trades were not executed and do not reflect slippage, commissions or liquidity except where stated. Not investment advice. Trading As Buddies · github.com/TradingAsBuddies/DAS-hotkeys · PlayBook format after SMB Training (not affiliated).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666666"/>
                </a:solidFill>
                <a:latin typeface="Lato"/>
              </a:rP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645920"/>
                <a:gridCol w="3108960"/>
                <a:gridCol w="4663440"/>
              </a:tblGrid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B26"/>
                          </a:solidFill>
                          <a:latin typeface="Lato"/>
                        </a:rPr>
                        <a:t>Step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B26"/>
                          </a:solidFill>
                          <a:latin typeface="Lato"/>
                        </a:rPr>
                        <a:t>Time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B26"/>
                          </a:solidFill>
                          <a:latin typeface="Lato"/>
                        </a:rPr>
                        <a:t>Price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B26"/>
                          </a:solidFill>
                          <a:latin typeface="Lato"/>
                        </a:rPr>
                        <a:t>Detail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Cross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09:30 bar close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9-EMA crosses above the 34-SMA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bar volume above 1.5× the 20-bar average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Entry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09:45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128.40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open of the next bar + 0.15 slip; shares = 1R ÷ (1.5 × ATR)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Initial stop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09:45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127.71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0.75 × ATR 0.92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Breakeven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10:00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128.40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the 09:45 bar showed more than +0.5R; stop to entry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Exit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15:45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137.24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flat at the close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Result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+$477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+6.4R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0233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1A1B26"/>
                </a:solidFill>
                <a:latin typeface="Lato"/>
              </a:rPr>
              <a:t>•  Half the trades scratch at breakeven</a:t>
            </a:r>
            <a:r>
              <a:rPr sz="1200">
                <a:solidFill>
                  <a:srgbClr val="1A1B26"/>
                </a:solidFill>
                <a:latin typeface="Lato"/>
              </a:rPr>
              <a:t> 1,134 of 2,282 exits are at entry. That is the design; the stop is inside the noise and breakeven is the real stop.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A1B26"/>
                </a:solidFill>
                <a:latin typeface="Lato"/>
              </a:rPr>
              <a:t>•  One in ten pays</a:t>
            </a:r>
            <a:r>
              <a:rPr sz="1200">
                <a:solidFill>
                  <a:srgbClr val="1A1B26"/>
                </a:solidFill>
                <a:latin typeface="Lato"/>
              </a:rPr>
              <a:t> winners average 2.6R and the ten largest are a large share of the total. Never cap them.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A1B26"/>
                </a:solidFill>
                <a:latin typeface="Lato"/>
              </a:rPr>
              <a:t>READING THE TAPE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Lato"/>
              </a:rPr>
              <a:t>What to watch on the cross bar and the bar after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666666"/>
                </a:solidFill>
                <a:latin typeface="Lato"/>
              </a:rPr>
              <a:t>Hypothetical backtest results on Massive.com minute data; simulated trades were not executed and do not reflect slippage, commissions or liquidity except where stated. Not investment advice. Trading As Buddies · github.com/TradingAsBuddies/DAS-hotkeys · PlayBook format after SMB Training (not affiliated).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666666"/>
                </a:solidFill>
                <a:latin typeface="Lato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A1B26"/>
                </a:solidFill>
                <a:latin typeface="Lato"/>
              </a:rPr>
              <a:t>•  Volume persistence</a:t>
            </a:r>
            <a:r>
              <a:rPr sz="1300">
                <a:solidFill>
                  <a:srgbClr val="1A1B26"/>
                </a:solidFill>
                <a:latin typeface="Lato"/>
              </a:rPr>
              <a:t> the cross bar's volume must be followed. The 50/2 rule: each of the next two bars prints at least half the cross bar's volume, or exit at that bar's close and do not re-enter on the same signal.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A1B26"/>
                </a:solidFill>
                <a:latin typeface="Lato"/>
              </a:rPr>
              <a:t>•  The 09:45 open</a:t>
            </a:r>
            <a:r>
              <a:rPr sz="1300">
                <a:solidFill>
                  <a:srgbClr val="1A1B26"/>
                </a:solidFill>
                <a:latin typeface="Lato"/>
              </a:rPr>
              <a:t> the entry is at the market; a wide spread or a print far from the 09:45 15-minute open is the slippage the backtest does not model.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A1B26"/>
                </a:solidFill>
                <a:latin typeface="Lato"/>
              </a:rPr>
              <a:t>•  First bar after entry</a:t>
            </a:r>
            <a:r>
              <a:rPr sz="1300">
                <a:solidFill>
                  <a:srgbClr val="1A1B26"/>
                </a:solidFill>
                <a:latin typeface="Lato"/>
              </a:rPr>
              <a:t> +0.5R moves the stop to breakeven. On the tape that is the bar that has to hold above the 9-EMA; if it closes back below, the scratch is coming.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A1B26"/>
                </a:solidFill>
                <a:latin typeface="Lato"/>
              </a:rPr>
              <a:t>•  Level to watch</a:t>
            </a:r>
            <a:r>
              <a:rPr sz="1300">
                <a:solidFill>
                  <a:srgbClr val="1A1B26"/>
                </a:solidFill>
                <a:latin typeface="Lato"/>
              </a:rPr>
              <a:t> the entry price. After breakeven the trade is free; the runner is the one that never revisits it.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A1B26"/>
                </a:solidFill>
                <a:latin typeface="Lato"/>
              </a:rPr>
              <a:t>•  Breadth</a:t>
            </a:r>
            <a:r>
              <a:rPr sz="1300">
                <a:solidFill>
                  <a:srgbClr val="1A1B26"/>
                </a:solidFill>
                <a:latin typeface="Lato"/>
              </a:rPr>
              <a:t> $VOLD sign must agree with the side at the cross; $TICK extremes against the trade at entry are a reason to wait one bar, not to skip.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A1B26"/>
                </a:solidFill>
                <a:latin typeface="Lato"/>
              </a:rPr>
              <a:t>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Lato"/>
              </a:rPr>
              <a:t>Built and tested against DAS on the paper account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666666"/>
                </a:solidFill>
                <a:latin typeface="Lato"/>
              </a:rPr>
              <a:t>Hypothetical backtest results on Massive.com minute data; simulated trades were not executed and do not reflect slippage, commissions or liquidity except where stated. Not investment advice. Trading As Buddies · github.com/TradingAsBuddies/DAS-hotkeys · PlayBook format after SMB Training (not affiliated).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666666"/>
                </a:solidFill>
                <a:latin typeface="Lato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A1B26"/>
                </a:solidFill>
                <a:latin typeface="Lato"/>
              </a:rPr>
              <a:t>•  Chart</a:t>
            </a:r>
            <a:r>
              <a:rPr sz="1300">
                <a:solidFill>
                  <a:srgbClr val="1A1B26"/>
                </a:solidFill>
                <a:latin typeface="Lato"/>
              </a:rPr>
              <a:t> 15-minute, regular hours only, 9-EMA and 34-SMA, volume with a 20-bar average. The cross must be visible on this chart, not on a 1-minute chart.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A1B26"/>
                </a:solidFill>
                <a:latin typeface="Lato"/>
              </a:rPr>
              <a:t>•  Entry</a:t>
            </a:r>
            <a:r>
              <a:rPr sz="1300">
                <a:solidFill>
                  <a:srgbClr val="1A1B26"/>
                </a:solidFill>
                <a:latin typeface="Lato"/>
              </a:rPr>
              <a:t> market order at the 09:45 (or later) bar open, with a stop 0.75×ATR away entered at the same time. In DAS Trader Pro this is one hotkey; open-source scripts are in the repo (scripts/20-fl-long.das, 21-fl-short.das).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A1B26"/>
                </a:solidFill>
                <a:latin typeface="Lato"/>
              </a:rPr>
              <a:t>•  Breakeven</a:t>
            </a:r>
            <a:r>
              <a:rPr sz="1300">
                <a:solidFill>
                  <a:srgbClr val="1A1B26"/>
                </a:solidFill>
                <a:latin typeface="Lato"/>
              </a:rPr>
              <a:t> after the first completed bar shows +0.5R, move the stop to entry. A stop-order update or a chart alert both work.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A1B26"/>
                </a:solidFill>
                <a:latin typeface="Lato"/>
              </a:rPr>
              <a:t>•  Breadth</a:t>
            </a:r>
            <a:r>
              <a:rPr sz="1300">
                <a:solidFill>
                  <a:srgbClr val="1A1B26"/>
                </a:solidFill>
                <a:latin typeface="Lato"/>
              </a:rPr>
              <a:t> keep $VOLD, $TICK and $ADD on screen at the cross; the side must agree with $VOLD.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A1B26"/>
                </a:solidFill>
                <a:latin typeface="Lato"/>
              </a:rPr>
              <a:t>•  Backtest</a:t>
            </a:r>
            <a:r>
              <a:rPr sz="1300">
                <a:solidFill>
                  <a:srgbClr val="1A1B26"/>
                </a:solidFill>
                <a:latin typeface="Lato"/>
              </a:rPr>
              <a:t> backtest/backtest_fl_week.py in the repo reproduces every number here from Massive.com (Polygon) flat files; report in docs/forward-tests/fl-3y-2023-2026.md.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A1B26"/>
                </a:solidFill>
                <a:latin typeface="Lato"/>
              </a:rPr>
              <a:t>•  Safety</a:t>
            </a:r>
            <a:r>
              <a:rPr sz="1300">
                <a:solidFill>
                  <a:srgbClr val="1A1B26"/>
                </a:solidFill>
                <a:latin typeface="Lato"/>
              </a:rPr>
              <a:t> simulation first at 1R; the rule is only as good as your stop fills, and those are yours to measure.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A1B26"/>
                </a:solidFill>
                <a:latin typeface="Lato"/>
              </a:rPr>
              <a:t>TRADE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Lato"/>
              </a:rPr>
              <a:t>What the three years say to do better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666666"/>
                </a:solidFill>
                <a:latin typeface="Lato"/>
              </a:rPr>
              <a:t>Hypothetical backtest results on Massive.com minute data; simulated trades were not executed and do not reflect slippage, commissions or liquidity except where stated. Not investment advice. Trading As Buddies · github.com/TradingAsBuddies/DAS-hotkeys · PlayBook format after SMB Training (not affiliated).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666666"/>
                </a:solidFill>
                <a:latin typeface="Lato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69494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1A1B26"/>
                </a:solidFill>
                <a:latin typeface="Lato"/>
              </a:rPr>
              <a:t>•  The 1-minute rule as traded on 09-24 has no edge</a:t>
            </a:r>
            <a:r>
              <a:rPr sz="1200">
                <a:solidFill>
                  <a:srgbClr val="1A1B26"/>
                </a:solidFill>
                <a:latin typeface="Lato"/>
              </a:rPr>
              <a:t> 13 of 13 stops live, −7,680R over three years. The 15-minute chart is the setup.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A1B26"/>
                </a:solidFill>
                <a:latin typeface="Lato"/>
              </a:rPr>
              <a:t>•  The edge is the first bar</a:t>
            </a:r>
            <a:r>
              <a:rPr sz="1200">
                <a:solidFill>
                  <a:srgbClr val="1A1B26"/>
                </a:solidFill>
                <a:latin typeface="Lato"/>
              </a:rPr>
              <a:t> 09:45 entries carry three quarters of the profit. Everything after 11:00 is negative.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A1B26"/>
                </a:solidFill>
                <a:latin typeface="Lato"/>
              </a:rPr>
              <a:t>•  Check your backtest against a chart</a:t>
            </a:r>
            <a:r>
              <a:rPr sz="1200">
                <a:solidFill>
                  <a:srgbClr val="1A1B26"/>
                </a:solidFill>
                <a:latin typeface="Lato"/>
              </a:rPr>
              <a:t> an earlier run let a cross on the prior day's closing bar be bought at the open, which inflated the result by 90R. Those overnight trades are a different, untested idea.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A1B26"/>
                </a:solidFill>
                <a:latin typeface="Lato"/>
              </a:rPr>
              <a:t>•  Win rate cannot be bought</a:t>
            </a:r>
            <a:r>
              <a:rPr sz="1200">
                <a:solidFill>
                  <a:srgbClr val="1A1B26"/>
                </a:solidFill>
                <a:latin typeface="Lato"/>
              </a:rPr>
              <a:t> partials raise it and destroy the P&amp;L; the return is the tail of runners into the close.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A1B26"/>
                </a:solidFill>
                <a:latin typeface="Lato"/>
              </a:rPr>
              <a:t>•  Friction</a:t>
            </a:r>
            <a:r>
              <a:rPr sz="1200">
                <a:solidFill>
                  <a:srgbClr val="1A1B26"/>
                </a:solidFill>
                <a:latin typeface="Lato"/>
              </a:rPr>
              <a:t> +65R after 5¢ stop slippage; first-bar entries alone +82R. Measure live stop fills before sizing.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A1B26"/>
                </a:solidFill>
                <a:latin typeface="Lato"/>
              </a:rPr>
              <a:t>•  Next</a:t>
            </a:r>
            <a:r>
              <a:rPr sz="1200">
                <a:solidFill>
                  <a:srgbClr val="1A1B26"/>
                </a:solidFill>
                <a:latin typeface="Lato"/>
              </a:rPr>
              <a:t> measure live stop fills in simulation, walk-forward the entry window, and test the overnight cross as its own setup.</a:t>
            </a:r>
          </a:p>
        </p:txBody>
      </p:sp>
      <p:pic>
        <p:nvPicPr>
          <p:cNvPr id="7" name="Picture 6" descr="fl_equ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463040"/>
            <a:ext cx="4480560" cy="171075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A1B26"/>
                </a:solidFill>
                <a:latin typeface="Lato"/>
              </a:rPr>
              <a:t>EV CALCULATOR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Lato"/>
              </a:rPr>
              <a:t>Expectancy from the simulated distribution (SMB's EV sheet inputs)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666666"/>
                </a:solidFill>
                <a:latin typeface="Lato"/>
              </a:rPr>
              <a:t>Hypothetical backtest results on Massive.com minute data; simulated trades were not executed and do not reflect slippage, commissions or liquidity except where stated. Not investment advice. Trading As Buddies · github.com/TradingAsBuddies/DAS-hotkeys · PlayBook format after SMB Training (not affiliated).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666666"/>
                </a:solidFill>
                <a:latin typeface="Lato"/>
              </a:rPr>
              <a:t>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011680"/>
                <a:gridCol w="5943600"/>
              </a:tblGrid>
              <a:tr h="32918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B26"/>
                          </a:solidFill>
                          <a:latin typeface="Lato"/>
                        </a:rPr>
                        <a:t>Input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B26"/>
                          </a:solidFill>
                          <a:latin typeface="Lato"/>
                        </a:rPr>
                        <a:t>Value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B26"/>
                          </a:solidFill>
                          <a:latin typeface="Lato"/>
                        </a:rPr>
                        <a:t>Note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B26"/>
                          </a:solidFill>
                          <a:latin typeface="Lato"/>
                        </a:rPr>
                        <a:t>Win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B26"/>
                          </a:solidFill>
                          <a:latin typeface="Lato"/>
                        </a:rPr>
                        <a:t>9.9%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B26"/>
                          </a:solidFill>
                          <a:latin typeface="Lato"/>
                        </a:rPr>
                        <a:t>227 winners / 2282 trades (1134 breakeven scratches)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B26"/>
                          </a:solidFill>
                          <a:latin typeface="Lato"/>
                        </a:rPr>
                        <a:t>Average winner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B26"/>
                          </a:solidFill>
                          <a:latin typeface="Lato"/>
                        </a:rPr>
                        <a:t>+2.58R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B26"/>
                          </a:solidFill>
                          <a:latin typeface="Lato"/>
                        </a:rPr>
                        <a:t>1R = your risk per trade = planned stop distance × shares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B26"/>
                          </a:solidFill>
                          <a:latin typeface="Lato"/>
                        </a:rPr>
                        <a:t>Average loser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B26"/>
                          </a:solidFill>
                          <a:latin typeface="Lato"/>
                        </a:rPr>
                        <a:t>−0.42R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B26"/>
                          </a:solidFill>
                          <a:latin typeface="Lato"/>
                        </a:rPr>
                        <a:t>smaller than 1R: gap-through and breakeven exits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B26"/>
                          </a:solidFill>
                          <a:latin typeface="Lato"/>
                        </a:rPr>
                        <a:t>Expectancy per trade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B26"/>
                          </a:solidFill>
                          <a:latin typeface="Lato"/>
                        </a:rPr>
                        <a:t>-0.119R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B26"/>
                          </a:solidFill>
                          <a:latin typeface="Lato"/>
                        </a:rPr>
                        <a:t>wr × avg win − (1 − wr) × avg 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B26"/>
                          </a:solidFill>
                          <a:latin typeface="Lato"/>
                        </a:rPr>
                        <a:t>Three-year 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B26"/>
                          </a:solidFill>
                          <a:latin typeface="Lato"/>
                        </a:rPr>
                        <a:t>+201R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B26"/>
                          </a:solidFill>
                          <a:latin typeface="Lato"/>
                        </a:rPr>
                        <a:t>max drawdown 12.4R · daily Sharpe 2.17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B26"/>
                          </a:solidFill>
                          <a:latin typeface="Lato"/>
                        </a:rPr>
                        <a:t>With 5¢ adverse slippage on every stop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B26"/>
                          </a:solidFill>
                          <a:latin typeface="Lato"/>
                        </a:rPr>
                        <a:t>+65R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B26"/>
                          </a:solidFill>
                          <a:latin typeface="Lato"/>
                        </a:rPr>
                        <a:t>the number that decides whether it is tradeable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5720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Lato"/>
              </a:rPr>
              <a:t>Read: +0.09R per trade with half the trades scratched. The average loser is 0.42R because the stop sits inside the noise and most losers are breakeven or gap-through fills; the average winner is 2.6R. Sharpe 2.2 and a 12R drawdown are the reasons to prefer this over the 34-SMA play for size.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A1B26"/>
                </a:solidFill>
                <a:latin typeface="Lato"/>
              </a:rPr>
              <a:t>SCORE 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Lato"/>
              </a:rPr>
              <a:t>Self-graded 1–10 against the SMB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666666"/>
                </a:solidFill>
                <a:latin typeface="Lato"/>
              </a:rPr>
              <a:t>Hypothetical backtest results on Massive.com minute data; simulated trades were not executed and do not reflect slippage, commissions or liquidity except where stated. Not investment advice. Trading As Buddies · github.com/TradingAsBuddies/DAS-hotkeys · PlayBook format after SMB Training (not affiliated).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666666"/>
                </a:solidFill>
                <a:latin typeface="Lato"/>
              </a:rP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914400"/>
                <a:gridCol w="7223760"/>
              </a:tblGrid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B26"/>
                          </a:solidFill>
                          <a:latin typeface="Lato"/>
                        </a:rPr>
                        <a:t>Area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B26"/>
                          </a:solidFill>
                          <a:latin typeface="Lato"/>
                        </a:rPr>
                        <a:t>Grade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B26"/>
                          </a:solidFill>
                          <a:latin typeface="Lato"/>
                        </a:rPr>
                        <a:t>Reason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Big Picture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Breadth gate exists in the driver; no index-regime filter has been tested.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Intraday Fundamentals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In-play names plus an EDGAR check; catalyst mornings carry the friction-adjusted edge.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Stock Selection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Single stocks only, ETFs excluded on evidence; universe is still today's names run backwards.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Technical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Cross, volume, stop, breakeven and exit are all on one chart and reproducible.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Trade Strategy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Explicit and backtested; the rule text was checked against plotted trades.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Risk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Breakeven at +0.5R keeps the drawdown to 12R; stop slippage still unmeasured live.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Reading the Tape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50/2 volume persistence rule exists and is enforceable; not yet validated across a sample.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Technology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Open-source DAS scripts and backtester; entry and stop are one hotkey; breakeven update is manual or scripted.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Review: what can you do better?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B26"/>
                          </a:solidFill>
                          <a:latin typeface="Lato"/>
                        </a:rPr>
                        <a:t>Live trials reviewed to cause, backtest checked against the chart, corrections published.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